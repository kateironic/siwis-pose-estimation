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2148840"/>
            <a:ext cx="10515600" cy="2743200"/>
          </a:xfrm>
          <a:prstGeom prst="rect">
            <a:avLst/>
          </a:prstGeom>
          <a:noFill/>
        </p:spPr>
        <p:txBody>
          <a:bodyPr wrap="square">
            <a:spAutoFit/>
          </a:bodyPr>
          <a:lstStyle/>
          <a:p>
            <a:pPr algn="l">
              <a:spcBef>
                <a:spcPts val="0"/>
              </a:spcBef>
              <a:spcAft>
                <a:spcPts val="600"/>
              </a:spcAft>
            </a:pPr>
            <a:r>
              <a:rPr sz="4600" b="1">
                <a:solidFill>
                  <a:srgbClr val="0B0B0B"/>
                </a:solidFill>
                <a:latin typeface="Segoe UI"/>
              </a:rPr>
              <a:t>Seeing People Through WiFi</a:t>
            </a:r>
          </a:p>
          <a:p>
            <a:pPr>
              <a:spcBef>
                <a:spcPts val="0"/>
              </a:spcBef>
              <a:spcAft>
                <a:spcPts val="2600"/>
              </a:spcAft>
            </a:pPr>
            <a:r>
              <a:rPr sz="2000" b="0">
                <a:solidFill>
                  <a:srgbClr val="52514E"/>
                </a:solidFill>
                <a:latin typeface="Segoe UI"/>
              </a:rPr>
              <a:t>Reproducing SiWiS (MobiCom '24) on commodity Raspberry Pi hardware</a:t>
            </a:r>
          </a:p>
          <a:p>
            <a:pPr>
              <a:spcBef>
                <a:spcPts val="0"/>
              </a:spcBef>
              <a:spcAft>
                <a:spcPts val="400"/>
              </a:spcAft>
            </a:pPr>
            <a:r>
              <a:rPr sz="1500" b="0">
                <a:solidFill>
                  <a:srgbClr val="898781"/>
                </a:solidFill>
                <a:latin typeface="Segoe UI"/>
              </a:rPr>
              <a:t>Human body-mask segmentation and 2D pose estimation from WiFi CSI alone</a:t>
            </a:r>
          </a:p>
          <a:p>
            <a:pPr>
              <a:spcBef>
                <a:spcPts val="0"/>
              </a:spcBef>
              <a:spcAft>
                <a:spcPts val="600"/>
              </a:spcAft>
            </a:pPr>
            <a:r>
              <a:rPr sz="1500" b="0">
                <a:solidFill>
                  <a:srgbClr val="898781"/>
                </a:solidFill>
                <a:latin typeface="Segoe UI"/>
              </a:rPr>
              <a:t>Full pipeline: capture → preprocessing → cross-modal labels → training → evaluation</a:t>
            </a:r>
          </a:p>
        </p:txBody>
      </p:sp>
      <p:sp>
        <p:nvSpPr>
          <p:cNvPr id="3" name="Rectangle 2"/>
          <p:cNvSpPr/>
          <p:nvPr/>
        </p:nvSpPr>
        <p:spPr>
          <a:xfrm>
            <a:off x="822960" y="1965960"/>
            <a:ext cx="1463040" cy="508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a:spAutoFit/>
          </a:bodyPr>
          <a:lstStyle/>
          <a:p>
            <a:pPr algn="l">
              <a:spcBef>
                <a:spcPts val="0"/>
              </a:spcBef>
              <a:spcAft>
                <a:spcPts val="200"/>
              </a:spcAft>
            </a:pPr>
            <a:r>
              <a:rPr sz="3000" b="1">
                <a:solidFill>
                  <a:srgbClr val="0B0B0B"/>
                </a:solidFill>
                <a:latin typeface="Segoe UI"/>
              </a:rPr>
              <a:t>What we set out to do</a:t>
            </a:r>
          </a:p>
          <a:p>
            <a:pPr>
              <a:spcBef>
                <a:spcPts val="0"/>
              </a:spcBef>
              <a:spcAft>
                <a:spcPts val="0"/>
              </a:spcAft>
            </a:pPr>
            <a:r>
              <a:rPr sz="1350" b="0">
                <a:solidFill>
                  <a:srgbClr val="898781"/>
                </a:solidFill>
                <a:latin typeface="Segoe UI"/>
              </a:rPr>
              <a:t>Reproduce a MobiCom '24 paper's results using hardware we actually have</a:t>
            </a:r>
          </a:p>
        </p:txBody>
      </p:sp>
      <p:sp>
        <p:nvSpPr>
          <p:cNvPr id="3" name="Rectangle 2"/>
          <p:cNvSpPr/>
          <p:nvPr/>
        </p:nvSpPr>
        <p:spPr>
          <a:xfrm>
            <a:off x="566928" y="1389888"/>
            <a:ext cx="1106424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783080"/>
            <a:ext cx="11064240" cy="4572000"/>
          </a:xfrm>
          <a:prstGeom prst="rect">
            <a:avLst/>
          </a:prstGeom>
          <a:noFill/>
        </p:spPr>
        <p:txBody>
          <a:bodyPr wrap="square">
            <a:spAutoFit/>
          </a:bodyPr>
          <a:lstStyle/>
          <a:p>
            <a:pPr algn="l">
              <a:spcBef>
                <a:spcPts val="0"/>
              </a:spcBef>
              <a:spcAft>
                <a:spcPts val="1100"/>
              </a:spcAft>
            </a:pPr>
            <a:r>
              <a:rPr sz="1450" b="1">
                <a:solidFill>
                  <a:srgbClr val="0B0B0B"/>
                </a:solidFill>
                <a:latin typeface="Segoe UI"/>
              </a:rPr>
              <a:t>The paper: SiWiS — fine-grained human detection using a single WiFi device</a:t>
            </a:r>
          </a:p>
          <a:p>
            <a:pPr>
              <a:spcBef>
                <a:spcPts val="0"/>
              </a:spcBef>
              <a:spcAft>
                <a:spcPts val="1100"/>
              </a:spcAft>
            </a:pPr>
            <a:r>
              <a:rPr sz="1450" b="0">
                <a:solidFill>
                  <a:srgbClr val="52514E"/>
                </a:solidFill>
                <a:latin typeface="Segoe UI"/>
              </a:rPr>
              <a:t>A dual-branch DNN predicts a human body mask and 17 COCO keypoints from WiFi signals alone. Video is used only during training, as a supervision signal — never at inference.</a:t>
            </a:r>
          </a:p>
          <a:p>
            <a:pPr>
              <a:spcBef>
                <a:spcPts val="0"/>
              </a:spcBef>
              <a:spcAft>
                <a:spcPts val="1100"/>
              </a:spcAft>
            </a:pPr>
            <a:r>
              <a:rPr sz="1450" b="1">
                <a:solidFill>
                  <a:srgbClr val="0B0B0B"/>
                </a:solidFill>
                <a:latin typeface="Segoe UI"/>
              </a:rPr>
              <a:t>Our starting point</a:t>
            </a:r>
          </a:p>
          <a:p>
            <a:pPr>
              <a:spcBef>
                <a:spcPts val="0"/>
              </a:spcBef>
              <a:spcAft>
                <a:spcPts val="1100"/>
              </a:spcAft>
            </a:pPr>
            <a:r>
              <a:rPr sz="1450" b="0">
                <a:solidFill>
                  <a:srgbClr val="52514E"/>
                </a:solidFill>
                <a:latin typeface="Segoe UI"/>
              </a:rPr>
              <a:t>An existing Python reproduction of the paper's architecture: signal encoder (conv + self-attention), two cross-attention decoders, and the paper's loss functions (Eqns. 12–14).</a:t>
            </a:r>
          </a:p>
          <a:p>
            <a:pPr>
              <a:spcBef>
                <a:spcPts val="0"/>
              </a:spcBef>
              <a:spcAft>
                <a:spcPts val="1100"/>
              </a:spcAft>
            </a:pPr>
            <a:r>
              <a:rPr sz="1450" b="1">
                <a:solidFill>
                  <a:srgbClr val="0B0B0B"/>
                </a:solidFill>
                <a:latin typeface="Segoe UI"/>
              </a:rPr>
              <a:t>Our hardware</a:t>
            </a:r>
          </a:p>
          <a:p>
            <a:pPr>
              <a:spcBef>
                <a:spcPts val="0"/>
              </a:spcBef>
              <a:spcAft>
                <a:spcPts val="1100"/>
              </a:spcAft>
            </a:pPr>
            <a:r>
              <a:rPr sz="1450" b="0">
                <a:solidFill>
                  <a:srgbClr val="52514E"/>
                </a:solidFill>
                <a:latin typeface="Segoe UI"/>
              </a:rPr>
              <a:t>Raspberry Pi 4B (bcm43455c0) running nexmon_csi against a TP-Link Archer AX10 router, plus a webcam for label generation. No GPU.</a:t>
            </a:r>
          </a:p>
          <a:p>
            <a:pPr>
              <a:spcBef>
                <a:spcPts val="0"/>
              </a:spcBef>
              <a:spcAft>
                <a:spcPts val="1100"/>
              </a:spcAft>
            </a:pPr>
            <a:r>
              <a:rPr sz="1450" b="1">
                <a:solidFill>
                  <a:srgbClr val="0B0B0B"/>
                </a:solidFill>
                <a:latin typeface="Segoe UI"/>
              </a:rPr>
              <a:t>The task</a:t>
            </a:r>
          </a:p>
          <a:p>
            <a:pPr>
              <a:spcBef>
                <a:spcPts val="0"/>
              </a:spcBef>
              <a:spcAft>
                <a:spcPts val="1100"/>
              </a:spcAft>
            </a:pPr>
            <a:r>
              <a:rPr sz="1450" b="0">
                <a:solidFill>
                  <a:srgbClr val="52514E"/>
                </a:solidFill>
                <a:latin typeface="Segoe UI"/>
              </a:rPr>
              <a:t>Verify the code is correct, adapt it to real hardware, collect data, train it, and measure whether it actually learns anything.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a:spAutoFit/>
          </a:bodyPr>
          <a:lstStyle/>
          <a:p>
            <a:pPr algn="l">
              <a:spcBef>
                <a:spcPts val="0"/>
              </a:spcBef>
              <a:spcAft>
                <a:spcPts val="200"/>
              </a:spcAft>
            </a:pPr>
            <a:r>
              <a:rPr sz="3000" b="1">
                <a:solidFill>
                  <a:srgbClr val="0B0B0B"/>
                </a:solidFill>
                <a:latin typeface="Segoe UI"/>
              </a:rPr>
              <a:t>The fundamental hardware gap</a:t>
            </a:r>
          </a:p>
          <a:p>
            <a:pPr>
              <a:spcBef>
                <a:spcPts val="0"/>
              </a:spcBef>
              <a:spcAft>
                <a:spcPts val="0"/>
              </a:spcAft>
            </a:pPr>
            <a:r>
              <a:rPr sz="1350" b="0">
                <a:solidFill>
                  <a:srgbClr val="898781"/>
                </a:solidFill>
                <a:latin typeface="Segoe UI"/>
              </a:rPr>
              <a:t>Named up front, because it shapes every result that follows</a:t>
            </a:r>
          </a:p>
        </p:txBody>
      </p:sp>
      <p:sp>
        <p:nvSpPr>
          <p:cNvPr id="3" name="Rectangle 2"/>
          <p:cNvSpPr/>
          <p:nvPr/>
        </p:nvSpPr>
        <p:spPr>
          <a:xfrm>
            <a:off x="566928" y="1389888"/>
            <a:ext cx="1106424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874519"/>
          <a:ext cx="11064240" cy="1975104"/>
        </p:xfrm>
        <a:graphic>
          <a:graphicData uri="http://schemas.openxmlformats.org/drawingml/2006/table">
            <a:tbl>
              <a:tblPr firstRow="1" bandRow="1">
                <a:tableStyleId>{5C22544A-7EE6-4342-B048-85BDC9FD1C3A}</a:tableStyleId>
              </a:tblPr>
              <a:tblGrid>
                <a:gridCol w="2286000"/>
                <a:gridCol w="4206240"/>
                <a:gridCol w="4572000"/>
              </a:tblGrid>
              <a:tr h="329184">
                <a:tc>
                  <a:txBody>
                    <a:bodyPr/>
                    <a:lstStyle/>
                    <a:p>
                      <a:pPr>
                        <a:spcAft>
                          <a:spcPts val="0"/>
                        </a:spcAft>
                        <a:defRPr sz="1250" b="1">
                          <a:solidFill>
                            <a:srgbClr val="0B0B0B"/>
                          </a:solidFill>
                          <a:latin typeface="Segoe UI"/>
                        </a:defRPr>
                      </a:pPr>
                    </a:p>
                  </a:txBody>
                  <a:tcPr marL="82296" marR="82296" marT="27432" marB="27432" anchor="ctr">
                    <a:solidFill>
                      <a:srgbClr val="F0EFEC"/>
                    </a:solidFill>
                  </a:tcPr>
                </a:tc>
                <a:tc>
                  <a:txBody>
                    <a:bodyPr/>
                    <a:lstStyle/>
                    <a:p>
                      <a:pPr>
                        <a:spcAft>
                          <a:spcPts val="0"/>
                        </a:spcAft>
                        <a:defRPr sz="1250" b="1">
                          <a:solidFill>
                            <a:srgbClr val="0B0B0B"/>
                          </a:solidFill>
                          <a:latin typeface="Segoe UI"/>
                        </a:defRPr>
                      </a:pPr>
                      <a:r>
                        <a:t>SiWiS paper</a:t>
                      </a:r>
                    </a:p>
                  </a:txBody>
                  <a:tcPr marL="82296" marR="82296" marT="27432" marB="27432" anchor="ctr">
                    <a:solidFill>
                      <a:srgbClr val="F0EFEC"/>
                    </a:solidFill>
                  </a:tcPr>
                </a:tc>
                <a:tc>
                  <a:txBody>
                    <a:bodyPr/>
                    <a:lstStyle/>
                    <a:p>
                      <a:pPr>
                        <a:spcAft>
                          <a:spcPts val="0"/>
                        </a:spcAft>
                        <a:defRPr sz="1250" b="1">
                          <a:solidFill>
                            <a:srgbClr val="0B0B0B"/>
                          </a:solidFill>
                          <a:latin typeface="Segoe UI"/>
                        </a:defRPr>
                      </a:pPr>
                      <a:r>
                        <a:t>This reproduction</a:t>
                      </a:r>
                    </a:p>
                  </a:txBody>
                  <a:tcPr marL="82296" marR="82296" marT="27432" marB="27432" anchor="ctr">
                    <a:solidFill>
                      <a:srgbClr val="F0EFEC"/>
                    </a:solidFill>
                  </a:tcPr>
                </a:tc>
              </a:tr>
              <a:tr h="329184">
                <a:tc>
                  <a:txBody>
                    <a:bodyPr/>
                    <a:lstStyle/>
                    <a:p>
                      <a:pPr>
                        <a:spcAft>
                          <a:spcPts val="0"/>
                        </a:spcAft>
                        <a:defRPr sz="1250" b="0">
                          <a:solidFill>
                            <a:srgbClr val="52514E"/>
                          </a:solidFill>
                          <a:latin typeface="Segoe UI"/>
                        </a:defRPr>
                      </a:pPr>
                      <a:r>
                        <a:t>Sensing front end</a:t>
                      </a:r>
                    </a:p>
                  </a:txBody>
                  <a:tcPr marL="82296" marR="82296" marT="27432" marB="27432" anchor="ctr">
                    <a:solidFill>
                      <a:srgbClr val="FCFCFB"/>
                    </a:solidFill>
                  </a:tcPr>
                </a:tc>
                <a:tc>
                  <a:txBody>
                    <a:bodyPr/>
                    <a:lstStyle/>
                    <a:p>
                      <a:pPr>
                        <a:spcAft>
                          <a:spcPts val="0"/>
                        </a:spcAft>
                        <a:defRPr sz="1250" b="0">
                          <a:solidFill>
                            <a:srgbClr val="52514E"/>
                          </a:solidFill>
                          <a:latin typeface="Segoe UI"/>
                        </a:defRPr>
                      </a:pPr>
                      <a:r>
                        <a:t>Custom self-mixing RF circuit</a:t>
                      </a:r>
                    </a:p>
                  </a:txBody>
                  <a:tcPr marL="82296" marR="82296" marT="27432" marB="27432" anchor="ctr">
                    <a:solidFill>
                      <a:srgbClr val="FCFCFB"/>
                    </a:solidFill>
                  </a:tcPr>
                </a:tc>
                <a:tc>
                  <a:txBody>
                    <a:bodyPr/>
                    <a:lstStyle/>
                    <a:p>
                      <a:pPr>
                        <a:spcAft>
                          <a:spcPts val="0"/>
                        </a:spcAft>
                        <a:defRPr sz="1250" b="0">
                          <a:solidFill>
                            <a:srgbClr val="52514E"/>
                          </a:solidFill>
                          <a:latin typeface="Segoe UI"/>
                        </a:defRPr>
                      </a:pPr>
                      <a:r>
                        <a:t>None — stock WiFi NIC</a:t>
                      </a:r>
                    </a:p>
                  </a:txBody>
                  <a:tcPr marL="82296" marR="82296" marT="27432" marB="27432" anchor="ctr">
                    <a:solidFill>
                      <a:srgbClr val="FCFCFB"/>
                    </a:solidFill>
                  </a:tcPr>
                </a:tc>
              </a:tr>
              <a:tr h="329184">
                <a:tc>
                  <a:txBody>
                    <a:bodyPr/>
                    <a:lstStyle/>
                    <a:p>
                      <a:pPr>
                        <a:spcAft>
                          <a:spcPts val="0"/>
                        </a:spcAft>
                        <a:defRPr sz="1250" b="0">
                          <a:solidFill>
                            <a:srgbClr val="52514E"/>
                          </a:solidFill>
                          <a:latin typeface="Segoe UI"/>
                        </a:defRPr>
                      </a:pPr>
                      <a:r>
                        <a:t>Antennas</a:t>
                      </a:r>
                    </a:p>
                  </a:txBody>
                  <a:tcPr marL="82296" marR="82296" marT="27432" marB="27432" anchor="ctr">
                    <a:solidFill>
                      <a:srgbClr val="FCFCFB"/>
                    </a:solidFill>
                  </a:tcPr>
                </a:tc>
                <a:tc>
                  <a:txBody>
                    <a:bodyPr/>
                    <a:lstStyle/>
                    <a:p>
                      <a:pPr>
                        <a:spcAft>
                          <a:spcPts val="0"/>
                        </a:spcAft>
                        <a:defRPr sz="1250" b="0">
                          <a:solidFill>
                            <a:srgbClr val="52514E"/>
                          </a:solidFill>
                          <a:latin typeface="Segoe UI"/>
                        </a:defRPr>
                      </a:pPr>
                      <a:r>
                        <a:t>4 patch antennas + LO reference</a:t>
                      </a:r>
                    </a:p>
                  </a:txBody>
                  <a:tcPr marL="82296" marR="82296" marT="27432" marB="27432" anchor="ctr">
                    <a:solidFill>
                      <a:srgbClr val="FCFCFB"/>
                    </a:solidFill>
                  </a:tcPr>
                </a:tc>
                <a:tc>
                  <a:txBody>
                    <a:bodyPr/>
                    <a:lstStyle/>
                    <a:p>
                      <a:pPr>
                        <a:spcAft>
                          <a:spcPts val="0"/>
                        </a:spcAft>
                        <a:defRPr sz="1250" b="0">
                          <a:solidFill>
                            <a:srgbClr val="52514E"/>
                          </a:solidFill>
                          <a:latin typeface="Segoe UI"/>
                        </a:defRPr>
                      </a:pPr>
                      <a:r>
                        <a:t>1 built-in Pi antenna</a:t>
                      </a:r>
                    </a:p>
                  </a:txBody>
                  <a:tcPr marL="82296" marR="82296" marT="27432" marB="27432" anchor="ctr">
                    <a:solidFill>
                      <a:srgbClr val="FCFCFB"/>
                    </a:solidFill>
                  </a:tcPr>
                </a:tc>
              </a:tr>
              <a:tr h="329184">
                <a:tc>
                  <a:txBody>
                    <a:bodyPr/>
                    <a:lstStyle/>
                    <a:p>
                      <a:pPr>
                        <a:spcAft>
                          <a:spcPts val="0"/>
                        </a:spcAft>
                        <a:defRPr sz="1250" b="0">
                          <a:solidFill>
                            <a:srgbClr val="52514E"/>
                          </a:solidFill>
                          <a:latin typeface="Segoe UI"/>
                        </a:defRPr>
                      </a:pPr>
                      <a:r>
                        <a:t>Signal used</a:t>
                      </a:r>
                    </a:p>
                  </a:txBody>
                  <a:tcPr marL="82296" marR="82296" marT="27432" marB="27432" anchor="ctr">
                    <a:solidFill>
                      <a:srgbClr val="FCFCFB"/>
                    </a:solidFill>
                  </a:tcPr>
                </a:tc>
                <a:tc>
                  <a:txBody>
                    <a:bodyPr/>
                    <a:lstStyle/>
                    <a:p>
                      <a:pPr>
                        <a:spcAft>
                          <a:spcPts val="0"/>
                        </a:spcAft>
                        <a:defRPr sz="1250" b="0">
                          <a:solidFill>
                            <a:srgbClr val="52514E"/>
                          </a:solidFill>
                          <a:latin typeface="Segoe UI"/>
                        </a:defRPr>
                      </a:pPr>
                      <a:r>
                        <a:t>Self-mixed Y(k), Eqn. 5–11</a:t>
                      </a:r>
                    </a:p>
                  </a:txBody>
                  <a:tcPr marL="82296" marR="82296" marT="27432" marB="27432" anchor="ctr">
                    <a:solidFill>
                      <a:srgbClr val="FCFCFB"/>
                    </a:solidFill>
                  </a:tcPr>
                </a:tc>
                <a:tc>
                  <a:txBody>
                    <a:bodyPr/>
                    <a:lstStyle/>
                    <a:p>
                      <a:pPr>
                        <a:spcAft>
                          <a:spcPts val="0"/>
                        </a:spcAft>
                        <a:defRPr sz="1250" b="0">
                          <a:solidFill>
                            <a:srgbClr val="52514E"/>
                          </a:solidFill>
                          <a:latin typeface="Segoe UI"/>
                        </a:defRPr>
                      </a:pPr>
                      <a:r>
                        <a:t>Standard CSI H(k), §2.1</a:t>
                      </a:r>
                    </a:p>
                  </a:txBody>
                  <a:tcPr marL="82296" marR="82296" marT="27432" marB="27432" anchor="ctr">
                    <a:solidFill>
                      <a:srgbClr val="FCFCFB"/>
                    </a:solidFill>
                  </a:tcPr>
                </a:tc>
              </a:tr>
              <a:tr h="329184">
                <a:tc>
                  <a:txBody>
                    <a:bodyPr/>
                    <a:lstStyle/>
                    <a:p>
                      <a:pPr>
                        <a:spcAft>
                          <a:spcPts val="0"/>
                        </a:spcAft>
                        <a:defRPr sz="1250" b="0">
                          <a:solidFill>
                            <a:srgbClr val="52514E"/>
                          </a:solidFill>
                          <a:latin typeface="Segoe UI"/>
                        </a:defRPr>
                      </a:pPr>
                      <a:r>
                        <a:t>Phase behaviour</a:t>
                      </a:r>
                    </a:p>
                  </a:txBody>
                  <a:tcPr marL="82296" marR="82296" marT="27432" marB="27432" anchor="ctr">
                    <a:solidFill>
                      <a:srgbClr val="FCFCFB"/>
                    </a:solidFill>
                  </a:tcPr>
                </a:tc>
                <a:tc>
                  <a:txBody>
                    <a:bodyPr/>
                    <a:lstStyle/>
                    <a:p>
                      <a:pPr>
                        <a:spcAft>
                          <a:spcPts val="0"/>
                        </a:spcAft>
                        <a:defRPr sz="1250" b="0">
                          <a:solidFill>
                            <a:srgbClr val="52514E"/>
                          </a:solidFill>
                          <a:latin typeface="Segoe UI"/>
                        </a:defRPr>
                      </a:pPr>
                      <a:r>
                        <a:t>Coherent; ∝ reflector distance (Lemma 2.1)</a:t>
                      </a:r>
                    </a:p>
                  </a:txBody>
                  <a:tcPr marL="82296" marR="82296" marT="27432" marB="27432" anchor="ctr">
                    <a:solidFill>
                      <a:srgbClr val="FCFCFB"/>
                    </a:solidFill>
                  </a:tcPr>
                </a:tc>
                <a:tc>
                  <a:txBody>
                    <a:bodyPr/>
                    <a:lstStyle/>
                    <a:p>
                      <a:pPr>
                        <a:spcAft>
                          <a:spcPts val="0"/>
                        </a:spcAft>
                        <a:defRPr sz="1250" b="0">
                          <a:solidFill>
                            <a:srgbClr val="52514E"/>
                          </a:solidFill>
                          <a:latin typeface="Segoe UI"/>
                        </a:defRPr>
                      </a:pPr>
                      <a:r>
                        <a:t>Corrupted by CPO; random per packet</a:t>
                      </a:r>
                    </a:p>
                  </a:txBody>
                  <a:tcPr marL="82296" marR="82296" marT="27432" marB="27432" anchor="ctr">
                    <a:solidFill>
                      <a:srgbClr val="FCFCFB"/>
                    </a:solidFill>
                  </a:tcPr>
                </a:tc>
              </a:tr>
              <a:tr h="329184">
                <a:tc>
                  <a:txBody>
                    <a:bodyPr/>
                    <a:lstStyle/>
                    <a:p>
                      <a:pPr>
                        <a:spcAft>
                          <a:spcPts val="0"/>
                        </a:spcAft>
                        <a:defRPr sz="1250" b="0">
                          <a:solidFill>
                            <a:srgbClr val="52514E"/>
                          </a:solidFill>
                          <a:latin typeface="Segoe UI"/>
                        </a:defRPr>
                      </a:pPr>
                      <a:r>
                        <a:t>Sampling</a:t>
                      </a:r>
                    </a:p>
                  </a:txBody>
                  <a:tcPr marL="82296" marR="82296" marT="27432" marB="27432" anchor="ctr">
                    <a:solidFill>
                      <a:srgbClr val="FCFCFB"/>
                    </a:solidFill>
                  </a:tcPr>
                </a:tc>
                <a:tc>
                  <a:txBody>
                    <a:bodyPr/>
                    <a:lstStyle/>
                    <a:p>
                      <a:pPr>
                        <a:spcAft>
                          <a:spcPts val="0"/>
                        </a:spcAft>
                        <a:defRPr sz="1250" b="0">
                          <a:solidFill>
                            <a:srgbClr val="52514E"/>
                          </a:solidFill>
                          <a:latin typeface="Segoe UI"/>
                        </a:defRPr>
                      </a:pPr>
                      <a:r>
                        <a:t>Dedicated ADC @ 10 MSps</a:t>
                      </a:r>
                    </a:p>
                  </a:txBody>
                  <a:tcPr marL="82296" marR="82296" marT="27432" marB="27432" anchor="ctr">
                    <a:solidFill>
                      <a:srgbClr val="FCFCFB"/>
                    </a:solidFill>
                  </a:tcPr>
                </a:tc>
                <a:tc>
                  <a:txBody>
                    <a:bodyPr/>
                    <a:lstStyle/>
                    <a:p>
                      <a:pPr>
                        <a:spcAft>
                          <a:spcPts val="0"/>
                        </a:spcAft>
                        <a:defRPr sz="1250" b="0">
                          <a:solidFill>
                            <a:srgbClr val="52514E"/>
                          </a:solidFill>
                          <a:latin typeface="Segoe UI"/>
                        </a:defRPr>
                      </a:pPr>
                      <a:r>
                        <a:t>Bursty WiFi packet arrivals</a:t>
                      </a:r>
                    </a:p>
                  </a:txBody>
                  <a:tcPr marL="82296" marR="82296" marT="27432" marB="27432" anchor="ctr">
                    <a:solidFill>
                      <a:srgbClr val="FCFCFB"/>
                    </a:solidFill>
                  </a:tcPr>
                </a:tc>
              </a:tr>
            </a:tbl>
          </a:graphicData>
        </a:graphic>
      </p:graphicFrame>
      <p:sp>
        <p:nvSpPr>
          <p:cNvPr id="5" name="TextBox 4"/>
          <p:cNvSpPr txBox="1"/>
          <p:nvPr/>
        </p:nvSpPr>
        <p:spPr>
          <a:xfrm>
            <a:off x="566928" y="4434840"/>
            <a:ext cx="11064240" cy="2011680"/>
          </a:xfrm>
          <a:prstGeom prst="rect">
            <a:avLst/>
          </a:prstGeom>
          <a:noFill/>
        </p:spPr>
        <p:txBody>
          <a:bodyPr wrap="square">
            <a:spAutoFit/>
          </a:bodyPr>
          <a:lstStyle/>
          <a:p>
            <a:pPr algn="l">
              <a:spcBef>
                <a:spcPts val="0"/>
              </a:spcBef>
              <a:spcAft>
                <a:spcPts val="600"/>
              </a:spcAft>
            </a:pPr>
            <a:r>
              <a:rPr sz="1500" b="1">
                <a:solidFill>
                  <a:srgbClr val="0B0B0B"/>
                </a:solidFill>
                <a:latin typeface="Segoe UI"/>
              </a:rPr>
              <a:t>Why this matters</a:t>
            </a:r>
          </a:p>
          <a:p>
            <a:pPr>
              <a:spcBef>
                <a:spcPts val="0"/>
              </a:spcBef>
              <a:spcAft>
                <a:spcPts val="0"/>
              </a:spcAft>
            </a:pPr>
            <a:r>
              <a:rPr sz="1350" b="0">
                <a:solidFill>
                  <a:srgbClr val="52514E"/>
                </a:solidFill>
                <a:latin typeface="Segoe UI"/>
              </a:rPr>
              <a:t>SiWiS's headline advantage — phase-coherent sensing — comes from hardware we do not have. The paper's own §2.2 shows that standard CSI phase is randomised packet-to-packet by carrier phase offset. So this work is best understood as a CSI-based reproduction of the paper's architecture and training recipe, closer in sensing modality to the CSI baselines SiWiS outperforms than to SiWiS itself.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a:spAutoFit/>
          </a:bodyPr>
          <a:lstStyle/>
          <a:p>
            <a:pPr algn="l">
              <a:spcBef>
                <a:spcPts val="0"/>
              </a:spcBef>
              <a:spcAft>
                <a:spcPts val="200"/>
              </a:spcAft>
            </a:pPr>
            <a:r>
              <a:rPr sz="3000" b="1">
                <a:solidFill>
                  <a:srgbClr val="0B0B0B"/>
                </a:solidFill>
                <a:latin typeface="Segoe UI"/>
              </a:rPr>
              <a:t>Phase 1 — Auditing the code against the paper</a:t>
            </a:r>
          </a:p>
          <a:p>
            <a:pPr>
              <a:spcBef>
                <a:spcPts val="0"/>
              </a:spcBef>
              <a:spcAft>
                <a:spcPts val="0"/>
              </a:spcAft>
            </a:pPr>
            <a:r>
              <a:rPr sz="1350" b="0">
                <a:solidFill>
                  <a:srgbClr val="898781"/>
                </a:solidFill>
                <a:latin typeface="Segoe UI"/>
              </a:rPr>
              <a:t>Cross-referenced every equation and figure against the implementation</a:t>
            </a:r>
          </a:p>
        </p:txBody>
      </p:sp>
      <p:sp>
        <p:nvSpPr>
          <p:cNvPr id="3" name="Rectangle 2"/>
          <p:cNvSpPr/>
          <p:nvPr/>
        </p:nvSpPr>
        <p:spPr>
          <a:xfrm>
            <a:off x="566928" y="1389888"/>
            <a:ext cx="1106424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874519"/>
          <a:ext cx="11064240" cy="1645920"/>
        </p:xfrm>
        <a:graphic>
          <a:graphicData uri="http://schemas.openxmlformats.org/drawingml/2006/table">
            <a:tbl>
              <a:tblPr firstRow="1" bandRow="1">
                <a:tableStyleId>{5C22544A-7EE6-4342-B048-85BDC9FD1C3A}</a:tableStyleId>
              </a:tblPr>
              <a:tblGrid>
                <a:gridCol w="4206240"/>
                <a:gridCol w="5029200"/>
                <a:gridCol w="1828800"/>
              </a:tblGrid>
              <a:tr h="329184">
                <a:tc>
                  <a:txBody>
                    <a:bodyPr/>
                    <a:lstStyle/>
                    <a:p>
                      <a:pPr>
                        <a:spcAft>
                          <a:spcPts val="0"/>
                        </a:spcAft>
                        <a:defRPr sz="1150" b="1">
                          <a:solidFill>
                            <a:srgbClr val="0B0B0B"/>
                          </a:solidFill>
                          <a:latin typeface="Segoe UI"/>
                        </a:defRPr>
                      </a:pPr>
                      <a:r>
                        <a:t>Defect</a:t>
                      </a:r>
                    </a:p>
                  </a:txBody>
                  <a:tcPr marL="82296" marR="82296" marT="27432" marB="27432" anchor="ctr">
                    <a:solidFill>
                      <a:srgbClr val="F0EFEC"/>
                    </a:solidFill>
                  </a:tcPr>
                </a:tc>
                <a:tc>
                  <a:txBody>
                    <a:bodyPr/>
                    <a:lstStyle/>
                    <a:p>
                      <a:pPr>
                        <a:spcAft>
                          <a:spcPts val="0"/>
                        </a:spcAft>
                        <a:defRPr sz="1150" b="1">
                          <a:solidFill>
                            <a:srgbClr val="0B0B0B"/>
                          </a:solidFill>
                          <a:latin typeface="Segoe UI"/>
                        </a:defRPr>
                      </a:pPr>
                      <a:r>
                        <a:t>Impact</a:t>
                      </a:r>
                    </a:p>
                  </a:txBody>
                  <a:tcPr marL="82296" marR="82296" marT="27432" marB="27432" anchor="ctr">
                    <a:solidFill>
                      <a:srgbClr val="F0EFEC"/>
                    </a:solidFill>
                  </a:tcPr>
                </a:tc>
                <a:tc>
                  <a:txBody>
                    <a:bodyPr/>
                    <a:lstStyle/>
                    <a:p>
                      <a:pPr>
                        <a:spcAft>
                          <a:spcPts val="0"/>
                        </a:spcAft>
                        <a:defRPr sz="1150" b="1">
                          <a:solidFill>
                            <a:srgbClr val="0B0B0B"/>
                          </a:solidFill>
                          <a:latin typeface="Segoe UI"/>
                        </a:defRPr>
                      </a:pPr>
                      <a:r>
                        <a:t>Status</a:t>
                      </a:r>
                    </a:p>
                  </a:txBody>
                  <a:tcPr marL="82296" marR="82296" marT="27432" marB="27432" anchor="ctr">
                    <a:solidFill>
                      <a:srgbClr val="F0EFEC"/>
                    </a:solidFill>
                  </a:tcPr>
                </a:tc>
              </a:tr>
              <a:tr h="329184">
                <a:tc>
                  <a:txBody>
                    <a:bodyPr/>
                    <a:lstStyle/>
                    <a:p>
                      <a:pPr>
                        <a:spcAft>
                          <a:spcPts val="0"/>
                        </a:spcAft>
                        <a:defRPr sz="1150" b="0">
                          <a:solidFill>
                            <a:srgbClr val="52514E"/>
                          </a:solidFill>
                          <a:latin typeface="Segoe UI"/>
                        </a:defRPr>
                      </a:pPr>
                      <a:r>
                        <a:t>Mask labels divided by 255 twice</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Ground-truth masks crushed to ~0.004; model would learn 'no person' everywhere</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Fixed</a:t>
                      </a:r>
                    </a:p>
                  </a:txBody>
                  <a:tcPr marL="82296" marR="82296" marT="27432" marB="27432" anchor="ctr">
                    <a:solidFill>
                      <a:srgbClr val="FCFCFB"/>
                    </a:solidFill>
                  </a:tcPr>
                </a:tc>
              </a:tr>
              <a:tr h="329184">
                <a:tc>
                  <a:txBody>
                    <a:bodyPr/>
                    <a:lstStyle/>
                    <a:p>
                      <a:pPr>
                        <a:spcAft>
                          <a:spcPts val="0"/>
                        </a:spcAft>
                        <a:defRPr sz="1150" b="0">
                          <a:solidFill>
                            <a:srgbClr val="52514E"/>
                          </a:solidFill>
                          <a:latin typeface="Segoe UI"/>
                        </a:defRPr>
                      </a:pPr>
                      <a:r>
                        <a:t>Frames sorted lexicographically, not by timestamp</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Breaks the paper's chronological 80/20 split (§4.2); leaks test data into train</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Fixed</a:t>
                      </a:r>
                    </a:p>
                  </a:txBody>
                  <a:tcPr marL="82296" marR="82296" marT="27432" marB="27432" anchor="ctr">
                    <a:solidFill>
                      <a:srgbClr val="FCFCFB"/>
                    </a:solidFill>
                  </a:tcPr>
                </a:tc>
              </a:tr>
              <a:tr h="329184">
                <a:tc>
                  <a:txBody>
                    <a:bodyPr/>
                    <a:lstStyle/>
                    <a:p>
                      <a:pPr>
                        <a:spcAft>
                          <a:spcPts val="0"/>
                        </a:spcAft>
                        <a:defRPr sz="1150" b="0">
                          <a:solidFill>
                            <a:srgbClr val="52514E"/>
                          </a:solidFill>
                          <a:latin typeface="Segoe UI"/>
                        </a:defRPr>
                      </a:pPr>
                      <a:r>
                        <a:t>Associative-embedding push loss counted self-pairs</a:t>
                      </a:r>
                    </a:p>
                    <a:p>
                      <a:pPr>
                        <a:spcAft>
                          <a:spcPts val="0"/>
                        </a:spcAft>
                        <a:defRPr sz="1150" b="0">
                          <a:solidFill>
                            <a:srgbClr val="52514E"/>
                          </a:solidFill>
                          <a:latin typeface="Segoe UI"/>
                        </a:defRPr>
                      </a:pPr>
                      <a:r>
                        <a:t>but normalised as if it hadn't</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Biased the reported loss value (gradients unaffected)</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Fixed</a:t>
                      </a:r>
                    </a:p>
                  </a:txBody>
                  <a:tcPr marL="82296" marR="82296" marT="27432" marB="27432" anchor="ctr">
                    <a:solidFill>
                      <a:srgbClr val="FCFCFB"/>
                    </a:solidFill>
                  </a:tcPr>
                </a:tc>
              </a:tr>
              <a:tr h="329184">
                <a:tc>
                  <a:txBody>
                    <a:bodyPr/>
                    <a:lstStyle/>
                    <a:p>
                      <a:pPr>
                        <a:spcAft>
                          <a:spcPts val="0"/>
                        </a:spcAft>
                        <a:defRPr sz="1150" b="0">
                          <a:solidFill>
                            <a:srgbClr val="52514E"/>
                          </a:solidFill>
                          <a:latin typeface="Segoe UI"/>
                        </a:defRPr>
                      </a:pPr>
                      <a:r>
                        <a:t>load_csi_pcap accepted num_antennas but ignored it</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Silently single-antenna regardless of the argument</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Flagged, then replaced in Phase 4</a:t>
                      </a:r>
                    </a:p>
                  </a:txBody>
                  <a:tcPr marL="82296" marR="82296" marT="27432" marB="27432" anchor="ctr">
                    <a:solidFill>
                      <a:srgbClr val="FCFCFB"/>
                    </a:solidFill>
                  </a:tcPr>
                </a:tc>
              </a:tr>
            </a:tbl>
          </a:graphicData>
        </a:graphic>
      </p:graphicFrame>
      <p:sp>
        <p:nvSpPr>
          <p:cNvPr id="5" name="TextBox 4"/>
          <p:cNvSpPr txBox="1"/>
          <p:nvPr/>
        </p:nvSpPr>
        <p:spPr>
          <a:xfrm>
            <a:off x="566928" y="4892040"/>
            <a:ext cx="11064240" cy="1463040"/>
          </a:xfrm>
          <a:prstGeom prst="rect">
            <a:avLst/>
          </a:prstGeom>
          <a:noFill/>
        </p:spPr>
        <p:txBody>
          <a:bodyPr wrap="square">
            <a:spAutoFit/>
          </a:bodyPr>
          <a:lstStyle/>
          <a:p>
            <a:pPr algn="l">
              <a:spcBef>
                <a:spcPts val="0"/>
              </a:spcBef>
              <a:spcAft>
                <a:spcPts val="600"/>
              </a:spcAft>
            </a:pPr>
            <a:r>
              <a:rPr sz="1350" b="0">
                <a:solidFill>
                  <a:srgbClr val="52514E"/>
                </a:solidFill>
                <a:latin typeface="Segoe UI"/>
              </a:rPr>
              <a:t>The mask-scaling bug is the instructive one: Mask R-CNN already returns probabilities in [0, 1], but the code treated them as 0–255 pixel values. Training would have run, loss would have decreased, and the model would have learned nothing — a silent failure, not a crash.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a:spAutoFit/>
          </a:bodyPr>
          <a:lstStyle/>
          <a:p>
            <a:pPr algn="l">
              <a:spcBef>
                <a:spcPts val="0"/>
              </a:spcBef>
              <a:spcAft>
                <a:spcPts val="200"/>
              </a:spcAft>
            </a:pPr>
            <a:r>
              <a:rPr sz="3000" b="1">
                <a:solidFill>
                  <a:srgbClr val="0B0B0B"/>
                </a:solidFill>
                <a:latin typeface="Segoe UI"/>
              </a:rPr>
              <a:t>Phase 2 — Verifying the CSI wire format</a:t>
            </a:r>
          </a:p>
          <a:p>
            <a:pPr>
              <a:spcBef>
                <a:spcPts val="0"/>
              </a:spcBef>
              <a:spcAft>
                <a:spcPts val="0"/>
              </a:spcAft>
            </a:pPr>
            <a:r>
              <a:rPr sz="1350" b="0">
                <a:solidFill>
                  <a:srgbClr val="898781"/>
                </a:solidFill>
                <a:latin typeface="Segoe UI"/>
              </a:rPr>
              <a:t>Checked against the nexmon_csi source, not assumed</a:t>
            </a:r>
          </a:p>
        </p:txBody>
      </p:sp>
      <p:sp>
        <p:nvSpPr>
          <p:cNvPr id="3" name="Rectangle 2"/>
          <p:cNvSpPr/>
          <p:nvPr/>
        </p:nvSpPr>
        <p:spPr>
          <a:xfrm>
            <a:off x="566928" y="1389888"/>
            <a:ext cx="1106424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783080"/>
            <a:ext cx="11064240" cy="4572000"/>
          </a:xfrm>
          <a:prstGeom prst="rect">
            <a:avLst/>
          </a:prstGeom>
          <a:noFill/>
        </p:spPr>
        <p:txBody>
          <a:bodyPr wrap="square">
            <a:spAutoFit/>
          </a:bodyPr>
          <a:lstStyle/>
          <a:p>
            <a:pPr algn="l">
              <a:spcBef>
                <a:spcPts val="0"/>
              </a:spcBef>
              <a:spcAft>
                <a:spcPts val="1100"/>
              </a:spcAft>
            </a:pPr>
            <a:r>
              <a:rPr sz="1450" b="1">
                <a:solidFill>
                  <a:srgbClr val="0CA30C"/>
                </a:solidFill>
                <a:latin typeface="Segoe UI"/>
              </a:rPr>
              <a:t>Header length: 18 bytes — confirmed</a:t>
            </a:r>
          </a:p>
          <a:p>
            <a:pPr>
              <a:spcBef>
                <a:spcPts val="0"/>
              </a:spcBef>
              <a:spcAft>
                <a:spcPts val="1100"/>
              </a:spcAft>
            </a:pPr>
            <a:r>
              <a:rPr sz="1450" b="0">
                <a:solidFill>
                  <a:srgbClr val="52514E"/>
                </a:solidFill>
                <a:latin typeface="Segoe UI"/>
              </a:rPr>
              <a:t>The README's field table sums to 19 (a typo: FrameControl listed as 2 bytes next to type uint8). The authoritative check is their own MATLAB reference parser: HOFFSET = 16 words = byte 60 of the frame, minus 42 bytes of Ethernet + IP + UDP headers = 18. Matches the code's existing value.</a:t>
            </a:r>
          </a:p>
          <a:p>
            <a:pPr>
              <a:spcBef>
                <a:spcPts val="0"/>
              </a:spcBef>
              <a:spcAft>
                <a:spcPts val="1100"/>
              </a:spcAft>
            </a:pPr>
            <a:r>
              <a:rPr sz="1450" b="1">
                <a:solidFill>
                  <a:srgbClr val="D03B3B"/>
                </a:solidFill>
                <a:latin typeface="Segoe UI"/>
              </a:rPr>
              <a:t>Byte order: was wrong — found and fixed</a:t>
            </a:r>
          </a:p>
          <a:p>
            <a:pPr>
              <a:spcBef>
                <a:spcPts val="0"/>
              </a:spcBef>
              <a:spcAft>
                <a:spcPts val="1100"/>
              </a:spcAft>
            </a:pPr>
            <a:r>
              <a:rPr sz="1450" b="0">
                <a:solidFill>
                  <a:srgbClr val="52514E"/>
                </a:solidFill>
                <a:latin typeface="Segoe UI"/>
              </a:rPr>
              <a:t>The code unpacked CSI samples as big-endian. The reference parser reads them in native order on a little-endian machine, so the wire format is little-endian. Every I/Q sample had its two bytes swapped — no crash, just silently corrupted values, which is worse.</a:t>
            </a:r>
          </a:p>
          <a:p>
            <a:pPr>
              <a:spcBef>
                <a:spcPts val="0"/>
              </a:spcBef>
              <a:spcAft>
                <a:spcPts val="1100"/>
              </a:spcAft>
            </a:pPr>
            <a:r>
              <a:rPr sz="1450" b="1">
                <a:solidFill>
                  <a:srgbClr val="0CA30C"/>
                </a:solidFill>
                <a:latin typeface="Segoe UI"/>
              </a:rPr>
              <a:t>CSI encoding: plain int16 — correct for this chip</a:t>
            </a:r>
          </a:p>
          <a:p>
            <a:pPr>
              <a:spcBef>
                <a:spcPts val="0"/>
              </a:spcBef>
              <a:spcAft>
                <a:spcPts val="1100"/>
              </a:spcAft>
            </a:pPr>
            <a:r>
              <a:rPr sz="1450" b="0">
                <a:solidFill>
                  <a:srgbClr val="52514E"/>
                </a:solidFill>
                <a:latin typeface="Segoe UI"/>
              </a:rPr>
              <a:t>bcm4358 / bcm4366c0 need a compressed float decoder; the Pi's bcm43455c0 uses straightforward interleaved int16 pairs, which is what the code already assumed.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a:spAutoFit/>
          </a:bodyPr>
          <a:lstStyle/>
          <a:p>
            <a:pPr algn="l">
              <a:spcBef>
                <a:spcPts val="0"/>
              </a:spcBef>
              <a:spcAft>
                <a:spcPts val="200"/>
              </a:spcAft>
            </a:pPr>
            <a:r>
              <a:rPr sz="3000" b="1">
                <a:solidFill>
                  <a:srgbClr val="0B0B0B"/>
                </a:solidFill>
                <a:latin typeface="Segoe UI"/>
              </a:rPr>
              <a:t>Phase 3 — Finding hard-won prior evidence</a:t>
            </a:r>
          </a:p>
          <a:p>
            <a:pPr>
              <a:spcBef>
                <a:spcPts val="0"/>
              </a:spcBef>
              <a:spcAft>
                <a:spcPts val="0"/>
              </a:spcAft>
            </a:pPr>
            <a:r>
              <a:rPr sz="1350" b="0">
                <a:solidFill>
                  <a:srgbClr val="898781"/>
                </a:solidFill>
                <a:latin typeface="Segoe UI"/>
              </a:rPr>
              <a:t>A sibling project had already measured what works on this exact rig</a:t>
            </a:r>
          </a:p>
        </p:txBody>
      </p:sp>
      <p:sp>
        <p:nvSpPr>
          <p:cNvPr id="3" name="Rectangle 2"/>
          <p:cNvSpPr/>
          <p:nvPr/>
        </p:nvSpPr>
        <p:spPr>
          <a:xfrm>
            <a:off x="566928" y="1389888"/>
            <a:ext cx="1106424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783080"/>
            <a:ext cx="11064240" cy="731520"/>
          </a:xfrm>
          <a:prstGeom prst="rect">
            <a:avLst/>
          </a:prstGeom>
          <a:noFill/>
        </p:spPr>
        <p:txBody>
          <a:bodyPr wrap="square">
            <a:spAutoFit/>
          </a:bodyPr>
          <a:lstStyle/>
          <a:p>
            <a:pPr algn="l">
              <a:spcBef>
                <a:spcPts val="0"/>
              </a:spcBef>
              <a:spcAft>
                <a:spcPts val="600"/>
              </a:spcAft>
            </a:pPr>
            <a:r>
              <a:rPr sz="1400" b="0">
                <a:solidFill>
                  <a:srgbClr val="52514E"/>
                </a:solidFill>
                <a:latin typeface="Segoe UI"/>
              </a:rPr>
              <a:t>PROJECT_NOTES.md from the Collision-detection project documented empirical results on the same Pi, same router, same firmware — and several contradicted assumptions already baked into the reproduction.</a:t>
            </a:r>
          </a:p>
        </p:txBody>
      </p:sp>
      <p:graphicFrame>
        <p:nvGraphicFramePr>
          <p:cNvPr id="5" name="Table 4"/>
          <p:cNvGraphicFramePr>
            <a:graphicFrameLocks noGrp="1"/>
          </p:cNvGraphicFramePr>
          <p:nvPr/>
        </p:nvGraphicFramePr>
        <p:xfrm>
          <a:off x="566928" y="2606040"/>
          <a:ext cx="11064240" cy="1975104"/>
        </p:xfrm>
        <a:graphic>
          <a:graphicData uri="http://schemas.openxmlformats.org/drawingml/2006/table">
            <a:tbl>
              <a:tblPr firstRow="1" bandRow="1">
                <a:tableStyleId>{5C22544A-7EE6-4342-B048-85BDC9FD1C3A}</a:tableStyleId>
              </a:tblPr>
              <a:tblGrid>
                <a:gridCol w="6492240"/>
                <a:gridCol w="4572000"/>
              </a:tblGrid>
              <a:tr h="329184">
                <a:tc>
                  <a:txBody>
                    <a:bodyPr/>
                    <a:lstStyle/>
                    <a:p>
                      <a:pPr>
                        <a:spcAft>
                          <a:spcPts val="0"/>
                        </a:spcAft>
                        <a:defRPr sz="1150" b="1">
                          <a:solidFill>
                            <a:srgbClr val="0B0B0B"/>
                          </a:solidFill>
                          <a:latin typeface="Segoe UI"/>
                        </a:defRPr>
                      </a:pPr>
                      <a:r>
                        <a:t>Measured finding</a:t>
                      </a:r>
                    </a:p>
                  </a:txBody>
                  <a:tcPr marL="82296" marR="82296" marT="27432" marB="27432" anchor="ctr">
                    <a:solidFill>
                      <a:srgbClr val="F0EFEC"/>
                    </a:solidFill>
                  </a:tcPr>
                </a:tc>
                <a:tc>
                  <a:txBody>
                    <a:bodyPr/>
                    <a:lstStyle/>
                    <a:p>
                      <a:pPr>
                        <a:spcAft>
                          <a:spcPts val="0"/>
                        </a:spcAft>
                        <a:defRPr sz="1150" b="1">
                          <a:solidFill>
                            <a:srgbClr val="0B0B0B"/>
                          </a:solidFill>
                          <a:latin typeface="Segoe UI"/>
                        </a:defRPr>
                      </a:pPr>
                      <a:r>
                        <a:t>Consequence for our pipeline</a:t>
                      </a:r>
                    </a:p>
                  </a:txBody>
                  <a:tcPr marL="82296" marR="82296" marT="27432" marB="27432" anchor="ctr">
                    <a:solidFill>
                      <a:srgbClr val="F0EFEC"/>
                    </a:solidFill>
                  </a:tcPr>
                </a:tc>
              </a:tr>
              <a:tr h="329184">
                <a:tc>
                  <a:txBody>
                    <a:bodyPr/>
                    <a:lstStyle/>
                    <a:p>
                      <a:pPr>
                        <a:spcAft>
                          <a:spcPts val="0"/>
                        </a:spcAft>
                        <a:defRPr sz="1150" b="0">
                          <a:solidFill>
                            <a:srgbClr val="52514E"/>
                          </a:solidFill>
                          <a:latin typeface="Segoe UI"/>
                        </a:defRPr>
                      </a:pPr>
                      <a:r>
                        <a:t>The 2×2 router alternates TX chains; each presents a different channel.</a:t>
                      </a:r>
                    </a:p>
                    <a:p>
                      <a:pPr>
                        <a:spcAft>
                          <a:spcPts val="0"/>
                        </a:spcAft>
                        <a:defRPr sz="1150" b="0">
                          <a:solidFill>
                            <a:srgbClr val="52514E"/>
                          </a:solidFill>
                          <a:latin typeface="Segoe UI"/>
                        </a:defRPr>
                      </a:pPr>
                      <a:r>
                        <a:t>Mixing them: per-subcarrier std 0.285 → split: 0.162</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Must separate chains before use.</a:t>
                      </a:r>
                    </a:p>
                    <a:p>
                      <a:pPr>
                        <a:spcAft>
                          <a:spcPts val="0"/>
                        </a:spcAft>
                        <a:defRPr sz="1150" b="0">
                          <a:solidFill>
                            <a:srgbClr val="52514E"/>
                          </a:solidFill>
                          <a:latin typeface="Segoe UI"/>
                        </a:defRPr>
                      </a:pPr>
                      <a:r>
                        <a:t>n_tot = 2, not 1</a:t>
                      </a:r>
                    </a:p>
                  </a:txBody>
                  <a:tcPr marL="82296" marR="82296" marT="27432" marB="27432" anchor="ctr">
                    <a:solidFill>
                      <a:srgbClr val="FCFCFB"/>
                    </a:solidFill>
                  </a:tcPr>
                </a:tc>
              </a:tr>
              <a:tr h="329184">
                <a:tc>
                  <a:txBody>
                    <a:bodyPr/>
                    <a:lstStyle/>
                    <a:p>
                      <a:pPr>
                        <a:spcAft>
                          <a:spcPts val="0"/>
                        </a:spcAft>
                        <a:defRPr sz="1150" b="0">
                          <a:solidFill>
                            <a:srgbClr val="52514E"/>
                          </a:solidFill>
                          <a:latin typeface="Segoe UI"/>
                        </a:defRPr>
                      </a:pPr>
                      <a:r>
                        <a:t>Guard/pilot/DC subcarriers hold ~94% of total power and are constant</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Must delete them before averaging</a:t>
                      </a:r>
                    </a:p>
                  </a:txBody>
                  <a:tcPr marL="82296" marR="82296" marT="27432" marB="27432" anchor="ctr">
                    <a:solidFill>
                      <a:srgbClr val="FCFCFB"/>
                    </a:solidFill>
                  </a:tcPr>
                </a:tc>
              </a:tr>
              <a:tr h="329184">
                <a:tc>
                  <a:txBody>
                    <a:bodyPr/>
                    <a:lstStyle/>
                    <a:p>
                      <a:pPr>
                        <a:spcAft>
                          <a:spcPts val="0"/>
                        </a:spcAft>
                        <a:defRPr sz="1150" b="0">
                          <a:solidFill>
                            <a:srgbClr val="52514E"/>
                          </a:solidFill>
                          <a:latin typeface="Segoe UI"/>
                        </a:defRPr>
                      </a:pPr>
                      <a:r>
                        <a:t>Amplitude coherence 0.826 vs complex/phase 0.258</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Use amplitude; discard phase</a:t>
                      </a:r>
                    </a:p>
                  </a:txBody>
                  <a:tcPr marL="82296" marR="82296" marT="27432" marB="27432" anchor="ctr">
                    <a:solidFill>
                      <a:srgbClr val="FCFCFB"/>
                    </a:solidFill>
                  </a:tcPr>
                </a:tc>
              </a:tr>
              <a:tr h="329184">
                <a:tc>
                  <a:txBody>
                    <a:bodyPr/>
                    <a:lstStyle/>
                    <a:p>
                      <a:pPr>
                        <a:spcAft>
                          <a:spcPts val="0"/>
                        </a:spcAft>
                        <a:defRPr sz="1150" b="0">
                          <a:solidFill>
                            <a:srgbClr val="52514E"/>
                          </a:solidFill>
                          <a:latin typeface="Segoe UI"/>
                        </a:defRPr>
                      </a:pPr>
                      <a:r>
                        <a:t>Packet jitter: 2.85 ms median, gaps to 35 ms</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Must resample to a uniform grid</a:t>
                      </a:r>
                    </a:p>
                  </a:txBody>
                  <a:tcPr marL="82296" marR="82296" marT="27432" marB="27432" anchor="ctr">
                    <a:solidFill>
                      <a:srgbClr val="FCFCFB"/>
                    </a:solidFill>
                  </a:tcPr>
                </a:tc>
              </a:tr>
              <a:tr h="329184">
                <a:tc>
                  <a:txBody>
                    <a:bodyPr/>
                    <a:lstStyle/>
                    <a:p>
                      <a:pPr>
                        <a:spcAft>
                          <a:spcPts val="0"/>
                        </a:spcAft>
                        <a:defRPr sz="1150" b="0">
                          <a:solidFill>
                            <a:srgbClr val="52514E"/>
                          </a:solidFill>
                          <a:latin typeface="Segoe UI"/>
                        </a:defRPr>
                      </a:pPr>
                      <a:r>
                        <a:t>SHARP's phase sanitization degraded coherence 0.933 → 0.363 here</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Do not use it on this hardware</a:t>
                      </a:r>
                    </a:p>
                  </a:txBody>
                  <a:tcPr marL="82296" marR="82296" marT="27432" marB="27432" anchor="ctr">
                    <a:solidFill>
                      <a:srgbClr val="FCFCFB"/>
                    </a:solidFill>
                  </a:tcPr>
                </a:tc>
              </a:tr>
            </a:tbl>
          </a:graphicData>
        </a:graphic>
      </p:graphicFrame>
      <p:sp>
        <p:nvSpPr>
          <p:cNvPr id="6" name="TextBox 5"/>
          <p:cNvSpPr txBox="1"/>
          <p:nvPr/>
        </p:nvSpPr>
        <p:spPr>
          <a:xfrm>
            <a:off x="566928" y="5257800"/>
            <a:ext cx="11064240" cy="1097280"/>
          </a:xfrm>
          <a:prstGeom prst="rect">
            <a:avLst/>
          </a:prstGeom>
          <a:noFill/>
        </p:spPr>
        <p:txBody>
          <a:bodyPr wrap="square">
            <a:spAutoFit/>
          </a:bodyPr>
          <a:lstStyle/>
          <a:p>
            <a:pPr algn="l">
              <a:spcBef>
                <a:spcPts val="0"/>
              </a:spcBef>
              <a:spcAft>
                <a:spcPts val="600"/>
              </a:spcAft>
            </a:pPr>
            <a:r>
              <a:rPr sz="1350" b="0">
                <a:solidFill>
                  <a:srgbClr val="52514E"/>
                </a:solidFill>
                <a:latin typeface="Segoe UI"/>
              </a:rPr>
              <a:t>None of these steps existed in the reproduction's loader. Running our data through it as-written would have reproduced exactly the failure modes this document warns about.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a:spAutoFit/>
          </a:bodyPr>
          <a:lstStyle/>
          <a:p>
            <a:pPr algn="l">
              <a:spcBef>
                <a:spcPts val="0"/>
              </a:spcBef>
              <a:spcAft>
                <a:spcPts val="200"/>
              </a:spcAft>
            </a:pPr>
            <a:r>
              <a:rPr sz="3000" b="1">
                <a:solidFill>
                  <a:srgbClr val="0B0B0B"/>
                </a:solidFill>
                <a:latin typeface="Segoe UI"/>
              </a:rPr>
              <a:t>Phase 4 — Rebuilding the CSI front end</a:t>
            </a:r>
          </a:p>
          <a:p>
            <a:pPr>
              <a:spcBef>
                <a:spcPts val="0"/>
              </a:spcBef>
              <a:spcAft>
                <a:spcPts val="0"/>
              </a:spcAft>
            </a:pPr>
            <a:r>
              <a:rPr sz="1350" b="0">
                <a:solidFill>
                  <a:srgbClr val="898781"/>
                </a:solidFill>
                <a:latin typeface="Segoe UI"/>
              </a:rPr>
              <a:t>Ported the proven recipe into data/csi_pcap_loader.py</a:t>
            </a:r>
          </a:p>
        </p:txBody>
      </p:sp>
      <p:sp>
        <p:nvSpPr>
          <p:cNvPr id="3" name="Rectangle 2"/>
          <p:cNvSpPr/>
          <p:nvPr/>
        </p:nvSpPr>
        <p:spPr>
          <a:xfrm>
            <a:off x="566928" y="1389888"/>
            <a:ext cx="1106424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828800"/>
          <a:ext cx="11064240" cy="2633472"/>
        </p:xfrm>
        <a:graphic>
          <a:graphicData uri="http://schemas.openxmlformats.org/drawingml/2006/table">
            <a:tbl>
              <a:tblPr firstRow="1" bandRow="1">
                <a:tableStyleId>{5C22544A-7EE6-4342-B048-85BDC9FD1C3A}</a:tableStyleId>
              </a:tblPr>
              <a:tblGrid>
                <a:gridCol w="457200"/>
                <a:gridCol w="5120640"/>
                <a:gridCol w="5486400"/>
              </a:tblGrid>
              <a:tr h="329184">
                <a:tc>
                  <a:txBody>
                    <a:bodyPr/>
                    <a:lstStyle/>
                    <a:p>
                      <a:pPr>
                        <a:spcAft>
                          <a:spcPts val="0"/>
                        </a:spcAft>
                        <a:defRPr sz="1150" b="1">
                          <a:solidFill>
                            <a:srgbClr val="0B0B0B"/>
                          </a:solidFill>
                          <a:latin typeface="Segoe UI"/>
                        </a:defRPr>
                      </a:pPr>
                      <a:r>
                        <a:t>#</a:t>
                      </a:r>
                    </a:p>
                  </a:txBody>
                  <a:tcPr marL="82296" marR="82296" marT="27432" marB="27432" anchor="ctr">
                    <a:solidFill>
                      <a:srgbClr val="F0EFEC"/>
                    </a:solidFill>
                  </a:tcPr>
                </a:tc>
                <a:tc>
                  <a:txBody>
                    <a:bodyPr/>
                    <a:lstStyle/>
                    <a:p>
                      <a:pPr>
                        <a:spcAft>
                          <a:spcPts val="0"/>
                        </a:spcAft>
                        <a:defRPr sz="1150" b="1">
                          <a:solidFill>
                            <a:srgbClr val="0B0B0B"/>
                          </a:solidFill>
                          <a:latin typeface="Segoe UI"/>
                        </a:defRPr>
                      </a:pPr>
                      <a:r>
                        <a:t>Step</a:t>
                      </a:r>
                    </a:p>
                  </a:txBody>
                  <a:tcPr marL="82296" marR="82296" marT="27432" marB="27432" anchor="ctr">
                    <a:solidFill>
                      <a:srgbClr val="F0EFEC"/>
                    </a:solidFill>
                  </a:tcPr>
                </a:tc>
                <a:tc>
                  <a:txBody>
                    <a:bodyPr/>
                    <a:lstStyle/>
                    <a:p>
                      <a:pPr>
                        <a:spcAft>
                          <a:spcPts val="0"/>
                        </a:spcAft>
                        <a:defRPr sz="1150" b="1">
                          <a:solidFill>
                            <a:srgbClr val="0B0B0B"/>
                          </a:solidFill>
                          <a:latin typeface="Segoe UI"/>
                        </a:defRPr>
                      </a:pPr>
                      <a:r>
                        <a:t>Why</a:t>
                      </a:r>
                    </a:p>
                  </a:txBody>
                  <a:tcPr marL="82296" marR="82296" marT="27432" marB="27432" anchor="ctr">
                    <a:solidFill>
                      <a:srgbClr val="F0EFEC"/>
                    </a:solidFill>
                  </a:tcPr>
                </a:tc>
              </a:tr>
              <a:tr h="329184">
                <a:tc>
                  <a:txBody>
                    <a:bodyPr/>
                    <a:lstStyle/>
                    <a:p>
                      <a:pPr>
                        <a:spcAft>
                          <a:spcPts val="0"/>
                        </a:spcAft>
                        <a:defRPr sz="1150" b="0">
                          <a:solidFill>
                            <a:srgbClr val="52514E"/>
                          </a:solidFill>
                          <a:latin typeface="Segoe UI"/>
                        </a:defRPr>
                      </a:pPr>
                      <a:r>
                        <a:t>1</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Parse with csiread.Nexmon</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Replaces hand-rolled byte parsing with a tested library</a:t>
                      </a:r>
                    </a:p>
                  </a:txBody>
                  <a:tcPr marL="82296" marR="82296" marT="27432" marB="27432" anchor="ctr">
                    <a:solidFill>
                      <a:srgbClr val="FCFCFB"/>
                    </a:solidFill>
                  </a:tcPr>
                </a:tc>
              </a:tr>
              <a:tr h="329184">
                <a:tc>
                  <a:txBody>
                    <a:bodyPr/>
                    <a:lstStyle/>
                    <a:p>
                      <a:pPr>
                        <a:spcAft>
                          <a:spcPts val="0"/>
                        </a:spcAft>
                        <a:defRPr sz="1150" b="0">
                          <a:solidFill>
                            <a:srgbClr val="52514E"/>
                          </a:solidFill>
                          <a:latin typeface="Segoe UI"/>
                        </a:defRPr>
                      </a:pPr>
                      <a:r>
                        <a:t>2</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Filter to one source MAC</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Otherwise CSI from every device on the channel is mixed together</a:t>
                      </a:r>
                    </a:p>
                  </a:txBody>
                  <a:tcPr marL="82296" marR="82296" marT="27432" marB="27432" anchor="ctr">
                    <a:solidFill>
                      <a:srgbClr val="FCFCFB"/>
                    </a:solidFill>
                  </a:tcPr>
                </a:tc>
              </a:tr>
              <a:tr h="329184">
                <a:tc>
                  <a:txBody>
                    <a:bodyPr/>
                    <a:lstStyle/>
                    <a:p>
                      <a:pPr>
                        <a:spcAft>
                          <a:spcPts val="0"/>
                        </a:spcAft>
                        <a:defRPr sz="1150" b="0">
                          <a:solidFill>
                            <a:srgbClr val="52514E"/>
                          </a:solidFill>
                          <a:latin typeface="Segoe UI"/>
                        </a:defRPr>
                      </a:pPr>
                      <a:r>
                        <a:t>3</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Drop all-zero packets</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Corrupt frames would poison a window</a:t>
                      </a:r>
                    </a:p>
                  </a:txBody>
                  <a:tcPr marL="82296" marR="82296" marT="27432" marB="27432" anchor="ctr">
                    <a:solidFill>
                      <a:srgbClr val="FCFCFB"/>
                    </a:solidFill>
                  </a:tcPr>
                </a:tc>
              </a:tr>
              <a:tr h="329184">
                <a:tc>
                  <a:txBody>
                    <a:bodyPr/>
                    <a:lstStyle/>
                    <a:p>
                      <a:pPr>
                        <a:spcAft>
                          <a:spcPts val="0"/>
                        </a:spcAft>
                        <a:defRPr sz="1150" b="0">
                          <a:solidFill>
                            <a:srgbClr val="52514E"/>
                          </a:solidFill>
                          <a:latin typeface="Segoe UI"/>
                        </a:defRPr>
                      </a:pPr>
                      <a:r>
                        <a:t>4</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Split TX chains (KMeans on amplitude profile)</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Chain identity isn't in the metadata; must be recovered</a:t>
                      </a:r>
                    </a:p>
                  </a:txBody>
                  <a:tcPr marL="82296" marR="82296" marT="27432" marB="27432" anchor="ctr">
                    <a:solidFill>
                      <a:srgbClr val="FCFCFB"/>
                    </a:solidFill>
                  </a:tcPr>
                </a:tc>
              </a:tr>
              <a:tr h="329184">
                <a:tc>
                  <a:txBody>
                    <a:bodyPr/>
                    <a:lstStyle/>
                    <a:p>
                      <a:pPr>
                        <a:spcAft>
                          <a:spcPts val="0"/>
                        </a:spcAft>
                        <a:defRPr sz="1150" b="0">
                          <a:solidFill>
                            <a:srgbClr val="52514E"/>
                          </a:solidFill>
                          <a:latin typeface="Segoe UI"/>
                        </a:defRPr>
                      </a:pPr>
                      <a:r>
                        <a:t>5</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Delete guard/pilot/DC subcarriers</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They hold ~94% of power and are constant over time</a:t>
                      </a:r>
                    </a:p>
                  </a:txBody>
                  <a:tcPr marL="82296" marR="82296" marT="27432" marB="27432" anchor="ctr">
                    <a:solidFill>
                      <a:srgbClr val="FCFCFB"/>
                    </a:solidFill>
                  </a:tcPr>
                </a:tc>
              </a:tr>
              <a:tr h="329184">
                <a:tc>
                  <a:txBody>
                    <a:bodyPr/>
                    <a:lstStyle/>
                    <a:p>
                      <a:pPr>
                        <a:spcAft>
                          <a:spcPts val="0"/>
                        </a:spcAft>
                        <a:defRPr sz="1150" b="0">
                          <a:solidFill>
                            <a:srgbClr val="52514E"/>
                          </a:solidFill>
                          <a:latin typeface="Segoe UI"/>
                        </a:defRPr>
                      </a:pPr>
                      <a:r>
                        <a:t>6</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Per-packet amplitude normalisation, discard phase</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Removes AGC steps; phase is CPO-corrupted</a:t>
                      </a:r>
                    </a:p>
                  </a:txBody>
                  <a:tcPr marL="82296" marR="82296" marT="27432" marB="27432" anchor="ctr">
                    <a:solidFill>
                      <a:srgbClr val="FCFCFB"/>
                    </a:solidFill>
                  </a:tcPr>
                </a:tc>
              </a:tr>
              <a:tr h="329184">
                <a:tc>
                  <a:txBody>
                    <a:bodyPr/>
                    <a:lstStyle/>
                    <a:p>
                      <a:pPr>
                        <a:spcAft>
                          <a:spcPts val="0"/>
                        </a:spcAft>
                        <a:defRPr sz="1150" b="0">
                          <a:solidFill>
                            <a:srgbClr val="52514E"/>
                          </a:solidFill>
                          <a:latin typeface="Segoe UI"/>
                        </a:defRPr>
                      </a:pPr>
                      <a:r>
                        <a:t>7</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Resample all streams to one shared uniform grid</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Windowing and Conv1d both assume even spacing</a:t>
                      </a:r>
                    </a:p>
                  </a:txBody>
                  <a:tcPr marL="82296" marR="82296" marT="27432" marB="27432" anchor="ctr">
                    <a:solidFill>
                      <a:srgbClr val="FCFCFB"/>
                    </a:solidFill>
                  </a:tcPr>
                </a:tc>
              </a:tr>
            </a:tbl>
          </a:graphicData>
        </a:graphic>
      </p:graphicFrame>
      <p:sp>
        <p:nvSpPr>
          <p:cNvPr id="5" name="TextBox 4"/>
          <p:cNvSpPr txBox="1"/>
          <p:nvPr/>
        </p:nvSpPr>
        <p:spPr>
          <a:xfrm>
            <a:off x="566928" y="5074920"/>
            <a:ext cx="11064240" cy="1280160"/>
          </a:xfrm>
          <a:prstGeom prst="rect">
            <a:avLst/>
          </a:prstGeom>
          <a:noFill/>
        </p:spPr>
        <p:txBody>
          <a:bodyPr wrap="square">
            <a:spAutoFit/>
          </a:bodyPr>
          <a:lstStyle/>
          <a:p>
            <a:pPr algn="l">
              <a:spcBef>
                <a:spcPts val="0"/>
              </a:spcBef>
              <a:spcAft>
                <a:spcPts val="600"/>
              </a:spcAft>
            </a:pPr>
            <a:r>
              <a:rPr sz="1350" b="0">
                <a:solidFill>
                  <a:srgbClr val="52514E"/>
                </a:solidFill>
                <a:latin typeface="Segoe UI"/>
              </a:rPr>
              <a:t>Also updated: config.py (2 streams, amplitude-only channels, derived window length), dataset.py, infer.py, train.py, check_sync.py, requirements.txt.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a:spAutoFit/>
          </a:bodyPr>
          <a:lstStyle/>
          <a:p>
            <a:pPr algn="l">
              <a:spcBef>
                <a:spcPts val="0"/>
              </a:spcBef>
              <a:spcAft>
                <a:spcPts val="200"/>
              </a:spcAft>
            </a:pPr>
            <a:r>
              <a:rPr sz="3000" b="1">
                <a:solidFill>
                  <a:srgbClr val="0B0B0B"/>
                </a:solidFill>
                <a:latin typeface="Segoe UI"/>
              </a:rPr>
              <a:t>A bug that only testing could catch</a:t>
            </a:r>
          </a:p>
          <a:p>
            <a:pPr>
              <a:spcBef>
                <a:spcPts val="0"/>
              </a:spcBef>
              <a:spcAft>
                <a:spcPts val="0"/>
              </a:spcAft>
            </a:pPr>
            <a:r>
              <a:rPr sz="1350" b="0">
                <a:solidFill>
                  <a:srgbClr val="898781"/>
                </a:solidFill>
                <a:latin typeface="Segoe UI"/>
              </a:rPr>
              <a:t>Code that compiles, runs, and produces perfectly useless numbers</a:t>
            </a:r>
          </a:p>
        </p:txBody>
      </p:sp>
      <p:sp>
        <p:nvSpPr>
          <p:cNvPr id="3" name="Rectangle 2"/>
          <p:cNvSpPr/>
          <p:nvPr/>
        </p:nvSpPr>
        <p:spPr>
          <a:xfrm>
            <a:off x="566928" y="1389888"/>
            <a:ext cx="1106424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0"/>
            <a:ext cx="5212080" cy="4206240"/>
          </a:xfrm>
          <a:prstGeom prst="rect">
            <a:avLst/>
          </a:prstGeom>
          <a:noFill/>
        </p:spPr>
        <p:txBody>
          <a:bodyPr wrap="square">
            <a:spAutoFit/>
          </a:bodyPr>
          <a:lstStyle/>
          <a:p>
            <a:pPr algn="l">
              <a:spcBef>
                <a:spcPts val="0"/>
              </a:spcBef>
              <a:spcAft>
                <a:spcPts val="800"/>
              </a:spcAft>
            </a:pPr>
            <a:r>
              <a:rPr sz="1600" b="1">
                <a:solidFill>
                  <a:srgbClr val="0B0B0B"/>
                </a:solidFill>
                <a:latin typeface="Segoe UI"/>
              </a:rPr>
              <a:t>The symptom</a:t>
            </a:r>
          </a:p>
          <a:p>
            <a:pPr>
              <a:spcBef>
                <a:spcPts val="0"/>
              </a:spcBef>
              <a:spcAft>
                <a:spcPts val="800"/>
              </a:spcAft>
            </a:pPr>
            <a:r>
              <a:rPr sz="1350" b="0">
                <a:solidFill>
                  <a:srgbClr val="52514E"/>
                </a:solidFill>
                <a:latin typeface="Segoe UI"/>
              </a:rPr>
              <a:t>First run of the new loader on real data:</a:t>
            </a:r>
          </a:p>
          <a:p>
            <a:pPr>
              <a:spcBef>
                <a:spcPts val="0"/>
              </a:spcBef>
              <a:spcAft>
                <a:spcPts val="1200"/>
              </a:spcAft>
            </a:pPr>
            <a:r>
              <a:rPr sz="1300" b="0">
                <a:solidFill>
                  <a:srgbClr val="D03B3B"/>
                </a:solidFill>
                <a:latin typeface="Segoe UI"/>
              </a:rPr>
              <a:t>stream 0:  mean=1.0000  std=0.0000
stream 1:  mean=1.0000  std=0.0000</a:t>
            </a:r>
          </a:p>
          <a:p>
            <a:pPr>
              <a:spcBef>
                <a:spcPts val="0"/>
              </a:spcBef>
              <a:spcAft>
                <a:spcPts val="0"/>
              </a:spcAft>
            </a:pPr>
            <a:r>
              <a:rPr sz="1350" b="0">
                <a:solidFill>
                  <a:srgbClr val="52514E"/>
                </a:solidFill>
                <a:latin typeface="Segoe UI"/>
              </a:rPr>
              <a:t>Both streams were exactly constant. No error, no warning — just a signal with zero information.</a:t>
            </a:r>
          </a:p>
        </p:txBody>
      </p:sp>
      <p:sp>
        <p:nvSpPr>
          <p:cNvPr id="5" name="TextBox 4"/>
          <p:cNvSpPr txBox="1"/>
          <p:nvPr/>
        </p:nvSpPr>
        <p:spPr>
          <a:xfrm>
            <a:off x="6126480" y="1828800"/>
            <a:ext cx="5486400" cy="4206240"/>
          </a:xfrm>
          <a:prstGeom prst="rect">
            <a:avLst/>
          </a:prstGeom>
          <a:noFill/>
        </p:spPr>
        <p:txBody>
          <a:bodyPr wrap="square">
            <a:spAutoFit/>
          </a:bodyPr>
          <a:lstStyle/>
          <a:p>
            <a:pPr algn="l">
              <a:spcBef>
                <a:spcPts val="0"/>
              </a:spcBef>
              <a:spcAft>
                <a:spcPts val="800"/>
              </a:spcAft>
            </a:pPr>
            <a:r>
              <a:rPr sz="1600" b="1">
                <a:solidFill>
                  <a:srgbClr val="0B0B0B"/>
                </a:solidFill>
                <a:latin typeface="Segoe UI"/>
              </a:rPr>
              <a:t>The cause</a:t>
            </a:r>
          </a:p>
          <a:p>
            <a:pPr>
              <a:spcBef>
                <a:spcPts val="0"/>
              </a:spcBef>
              <a:spcAft>
                <a:spcPts val="1200"/>
              </a:spcAft>
            </a:pPr>
            <a:r>
              <a:rPr sz="1350" b="0">
                <a:solidFill>
                  <a:srgbClr val="52514E"/>
                </a:solidFill>
                <a:latin typeface="Segoe UI"/>
              </a:rPr>
              <a:t>Each packet was normalised by its own mean across subcarriers, then collapsed to a scalar by taking the mean across subcarriers again. The mean of x / mean(x) is exactly 1, always.</a:t>
            </a:r>
          </a:p>
          <a:p>
            <a:pPr>
              <a:spcBef>
                <a:spcPts val="0"/>
              </a:spcBef>
              <a:spcAft>
                <a:spcPts val="800"/>
              </a:spcAft>
            </a:pPr>
            <a:r>
              <a:rPr sz="1600" b="1">
                <a:solidFill>
                  <a:srgbClr val="0B0B0B"/>
                </a:solidFill>
                <a:latin typeface="Segoe UI"/>
              </a:rPr>
              <a:t>The fix</a:t>
            </a:r>
          </a:p>
          <a:p>
            <a:pPr>
              <a:spcBef>
                <a:spcPts val="0"/>
              </a:spcBef>
              <a:spcAft>
                <a:spcPts val="1200"/>
              </a:spcAft>
            </a:pPr>
            <a:r>
              <a:rPr sz="1350" b="0">
                <a:solidFill>
                  <a:srgbClr val="52514E"/>
                </a:solidFill>
                <a:latin typeface="Segoe UI"/>
              </a:rPr>
              <a:t>After normalising away packet power, the information left is the shape of the frequency response — so collapse with the standard deviation across subcarriers, not the mean.</a:t>
            </a:r>
          </a:p>
          <a:p>
            <a:pPr>
              <a:spcBef>
                <a:spcPts val="0"/>
              </a:spcBef>
              <a:spcAft>
                <a:spcPts val="600"/>
              </a:spcAft>
            </a:pPr>
            <a:r>
              <a:rPr sz="1300" b="0">
                <a:solidFill>
                  <a:srgbClr val="0CA30C"/>
                </a:solidFill>
                <a:latin typeface="Segoe UI"/>
              </a:rPr>
              <a:t>stream 0:  mean=1.9516  std=0.0796
stream 1:  mean=1.9671  std=0.0891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a:spAutoFit/>
          </a:bodyPr>
          <a:lstStyle/>
          <a:p>
            <a:pPr algn="l">
              <a:spcBef>
                <a:spcPts val="0"/>
              </a:spcBef>
              <a:spcAft>
                <a:spcPts val="200"/>
              </a:spcAft>
            </a:pPr>
            <a:r>
              <a:rPr sz="3000" b="1">
                <a:solidFill>
                  <a:srgbClr val="0B0B0B"/>
                </a:solidFill>
                <a:latin typeface="Segoe UI"/>
              </a:rPr>
              <a:t>Validating the front end on real data</a:t>
            </a:r>
          </a:p>
          <a:p>
            <a:pPr>
              <a:spcBef>
                <a:spcPts val="0"/>
              </a:spcBef>
              <a:spcAft>
                <a:spcPts val="0"/>
              </a:spcAft>
            </a:pPr>
            <a:r>
              <a:rPr sz="1350" b="0">
                <a:solidFill>
                  <a:srgbClr val="898781"/>
                </a:solidFill>
                <a:latin typeface="Segoe UI"/>
              </a:rPr>
              <a:t>poses.pcap — 100,000 packets over 78.6 s</a:t>
            </a:r>
          </a:p>
        </p:txBody>
      </p:sp>
      <p:sp>
        <p:nvSpPr>
          <p:cNvPr id="3" name="Rectangle 2"/>
          <p:cNvSpPr/>
          <p:nvPr/>
        </p:nvSpPr>
        <p:spPr>
          <a:xfrm>
            <a:off x="566928" y="1389888"/>
            <a:ext cx="1106424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148840"/>
            <a:ext cx="2651760" cy="1737360"/>
          </a:xfrm>
          <a:prstGeom prst="rect">
            <a:avLst/>
          </a:prstGeom>
          <a:noFill/>
        </p:spPr>
        <p:txBody>
          <a:bodyPr wrap="square">
            <a:spAutoFit/>
          </a:bodyPr>
          <a:lstStyle/>
          <a:p>
            <a:pPr algn="l">
              <a:spcBef>
                <a:spcPts val="0"/>
              </a:spcBef>
              <a:spcAft>
                <a:spcPts val="400"/>
              </a:spcAft>
            </a:pPr>
            <a:r>
              <a:rPr sz="4000" b="1">
                <a:solidFill>
                  <a:srgbClr val="2A78D6"/>
                </a:solidFill>
                <a:latin typeface="Segoe UI"/>
              </a:rPr>
              <a:t>90.6%</a:t>
            </a:r>
          </a:p>
          <a:p>
            <a:pPr>
              <a:spcBef>
                <a:spcPts val="0"/>
              </a:spcBef>
              <a:spcAft>
                <a:spcPts val="0"/>
              </a:spcAft>
            </a:pPr>
            <a:r>
              <a:rPr sz="1250" b="0">
                <a:solidFill>
                  <a:srgbClr val="898781"/>
                </a:solidFill>
                <a:latin typeface="Segoe UI"/>
              </a:rPr>
              <a:t>packets kept after
MAC filtering</a:t>
            </a:r>
          </a:p>
        </p:txBody>
      </p:sp>
      <p:sp>
        <p:nvSpPr>
          <p:cNvPr id="5" name="TextBox 4"/>
          <p:cNvSpPr txBox="1"/>
          <p:nvPr/>
        </p:nvSpPr>
        <p:spPr>
          <a:xfrm>
            <a:off x="3374136" y="2148840"/>
            <a:ext cx="2651760" cy="1737360"/>
          </a:xfrm>
          <a:prstGeom prst="rect">
            <a:avLst/>
          </a:prstGeom>
          <a:noFill/>
        </p:spPr>
        <p:txBody>
          <a:bodyPr wrap="square">
            <a:spAutoFit/>
          </a:bodyPr>
          <a:lstStyle/>
          <a:p>
            <a:pPr algn="l">
              <a:spcBef>
                <a:spcPts val="0"/>
              </a:spcBef>
              <a:spcAft>
                <a:spcPts val="400"/>
              </a:spcAft>
            </a:pPr>
            <a:r>
              <a:rPr sz="4000" b="1">
                <a:solidFill>
                  <a:srgbClr val="0CA30C"/>
                </a:solidFill>
                <a:latin typeface="Segoe UI"/>
              </a:rPr>
              <a:t>0.93</a:t>
            </a:r>
          </a:p>
          <a:p>
            <a:pPr>
              <a:spcBef>
                <a:spcPts val="0"/>
              </a:spcBef>
              <a:spcAft>
                <a:spcPts val="0"/>
              </a:spcAft>
            </a:pPr>
            <a:r>
              <a:rPr sz="1250" b="0">
                <a:solidFill>
                  <a:srgbClr val="898781"/>
                </a:solidFill>
                <a:latin typeface="Segoe UI"/>
              </a:rPr>
              <a:t>correlation between the
two recovered TX chains</a:t>
            </a:r>
          </a:p>
        </p:txBody>
      </p:sp>
      <p:sp>
        <p:nvSpPr>
          <p:cNvPr id="6" name="TextBox 5"/>
          <p:cNvSpPr txBox="1"/>
          <p:nvPr/>
        </p:nvSpPr>
        <p:spPr>
          <a:xfrm>
            <a:off x="6181344" y="2148840"/>
            <a:ext cx="2651760" cy="1737360"/>
          </a:xfrm>
          <a:prstGeom prst="rect">
            <a:avLst/>
          </a:prstGeom>
          <a:noFill/>
        </p:spPr>
        <p:txBody>
          <a:bodyPr wrap="square">
            <a:spAutoFit/>
          </a:bodyPr>
          <a:lstStyle/>
          <a:p>
            <a:pPr algn="l">
              <a:spcBef>
                <a:spcPts val="0"/>
              </a:spcBef>
              <a:spcAft>
                <a:spcPts val="400"/>
              </a:spcAft>
            </a:pPr>
            <a:r>
              <a:rPr sz="4000" b="1">
                <a:solidFill>
                  <a:srgbClr val="2A78D6"/>
                </a:solidFill>
                <a:latin typeface="Segoe UI"/>
              </a:rPr>
              <a:t>300.0 Hz</a:t>
            </a:r>
          </a:p>
          <a:p>
            <a:pPr>
              <a:spcBef>
                <a:spcPts val="0"/>
              </a:spcBef>
              <a:spcAft>
                <a:spcPts val="0"/>
              </a:spcAft>
            </a:pPr>
            <a:r>
              <a:rPr sz="1250" b="0">
                <a:solidFill>
                  <a:srgbClr val="898781"/>
                </a:solidFill>
                <a:latin typeface="Segoe UI"/>
              </a:rPr>
              <a:t>uniform resampled rate
(23,566 samples)</a:t>
            </a:r>
          </a:p>
        </p:txBody>
      </p:sp>
      <p:sp>
        <p:nvSpPr>
          <p:cNvPr id="7" name="TextBox 6"/>
          <p:cNvSpPr txBox="1"/>
          <p:nvPr/>
        </p:nvSpPr>
        <p:spPr>
          <a:xfrm>
            <a:off x="8988551" y="2148840"/>
            <a:ext cx="2651760" cy="1737360"/>
          </a:xfrm>
          <a:prstGeom prst="rect">
            <a:avLst/>
          </a:prstGeom>
          <a:noFill/>
        </p:spPr>
        <p:txBody>
          <a:bodyPr wrap="square">
            <a:spAutoFit/>
          </a:bodyPr>
          <a:lstStyle/>
          <a:p>
            <a:pPr algn="l">
              <a:spcBef>
                <a:spcPts val="0"/>
              </a:spcBef>
              <a:spcAft>
                <a:spcPts val="400"/>
              </a:spcAft>
            </a:pPr>
            <a:r>
              <a:rPr sz="4000" b="1">
                <a:solidFill>
                  <a:srgbClr val="0CA30C"/>
                </a:solidFill>
                <a:latin typeface="Segoe UI"/>
              </a:rPr>
              <a:t>0</a:t>
            </a:r>
          </a:p>
          <a:p>
            <a:pPr>
              <a:spcBef>
                <a:spcPts val="0"/>
              </a:spcBef>
              <a:spcAft>
                <a:spcPts val="0"/>
              </a:spcAft>
            </a:pPr>
            <a:r>
              <a:rPr sz="1250" b="0">
                <a:solidFill>
                  <a:srgbClr val="898781"/>
                </a:solidFill>
                <a:latin typeface="Segoe UI"/>
              </a:rPr>
              <a:t>NaN or Inf values
in the output tensor</a:t>
            </a:r>
          </a:p>
        </p:txBody>
      </p:sp>
      <p:sp>
        <p:nvSpPr>
          <p:cNvPr id="8" name="TextBox 7"/>
          <p:cNvSpPr txBox="1"/>
          <p:nvPr/>
        </p:nvSpPr>
        <p:spPr>
          <a:xfrm>
            <a:off x="566928" y="4160520"/>
            <a:ext cx="11064240" cy="2011680"/>
          </a:xfrm>
          <a:prstGeom prst="rect">
            <a:avLst/>
          </a:prstGeom>
          <a:noFill/>
        </p:spPr>
        <p:txBody>
          <a:bodyPr wrap="square">
            <a:spAutoFit/>
          </a:bodyPr>
          <a:lstStyle/>
          <a:p>
            <a:pPr algn="l">
              <a:spcBef>
                <a:spcPts val="0"/>
              </a:spcBef>
              <a:spcAft>
                <a:spcPts val="800"/>
              </a:spcAft>
            </a:pPr>
            <a:r>
              <a:rPr sz="1550" b="1">
                <a:solidFill>
                  <a:srgbClr val="0B0B0B"/>
                </a:solidFill>
                <a:latin typeface="Segoe UI"/>
              </a:rPr>
              <a:t>Why the 0.93 matters</a:t>
            </a:r>
          </a:p>
          <a:p>
            <a:pPr>
              <a:spcBef>
                <a:spcPts val="0"/>
              </a:spcBef>
              <a:spcAft>
                <a:spcPts val="1000"/>
              </a:spcAft>
            </a:pPr>
            <a:r>
              <a:rPr sz="1350" b="0">
                <a:solidFill>
                  <a:srgbClr val="52514E"/>
                </a:solidFill>
                <a:latin typeface="Segoe UI"/>
              </a:rPr>
              <a:t>The two streams are recovered by unsupervised clustering — nothing guarantees the split is meaningful. But both chains observe the same room, so a correct split should produce two highly correlated signals. A near-zero correlation would have meant the clustering was splitting noise. 0.93 is strong evidence the TX-chain separation is doing what it claims.</a:t>
            </a:r>
          </a:p>
          <a:p>
            <a:pPr>
              <a:spcBef>
                <a:spcPts val="0"/>
              </a:spcBef>
              <a:spcAft>
                <a:spcPts val="600"/>
              </a:spcAft>
            </a:pPr>
            <a:r>
              <a:rPr sz="1350" b="0">
                <a:solidFill>
                  <a:srgbClr val="52514E"/>
                </a:solidFill>
                <a:latin typeface="Segoe UI"/>
              </a:rPr>
              <a:t>Windowed variance also fluctuates across the recording (0.010–0.059), consistent with a session that alternates between movement and stillness — not a flat, dead signal.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a:spAutoFit/>
          </a:bodyPr>
          <a:lstStyle/>
          <a:p>
            <a:pPr algn="l">
              <a:spcBef>
                <a:spcPts val="0"/>
              </a:spcBef>
              <a:spcAft>
                <a:spcPts val="200"/>
              </a:spcAft>
            </a:pPr>
            <a:r>
              <a:rPr sz="3000" b="1">
                <a:solidFill>
                  <a:srgbClr val="0B0B0B"/>
                </a:solidFill>
                <a:latin typeface="Segoe UI"/>
              </a:rPr>
              <a:t>Phase 5 — Video, timestamps, and labels</a:t>
            </a:r>
          </a:p>
          <a:p>
            <a:pPr>
              <a:spcBef>
                <a:spcPts val="0"/>
              </a:spcBef>
              <a:spcAft>
                <a:spcPts val="0"/>
              </a:spcAft>
            </a:pPr>
            <a:r>
              <a:rPr sz="1350" b="0">
                <a:solidFill>
                  <a:srgbClr val="898781"/>
                </a:solidFill>
                <a:latin typeface="Segoe UI"/>
              </a:rPr>
              <a:t>The cross-modal supervision path (Fig. 13, 'Vision Processing')</a:t>
            </a:r>
          </a:p>
        </p:txBody>
      </p:sp>
      <p:sp>
        <p:nvSpPr>
          <p:cNvPr id="3" name="Rectangle 2"/>
          <p:cNvSpPr/>
          <p:nvPr/>
        </p:nvSpPr>
        <p:spPr>
          <a:xfrm>
            <a:off x="566928" y="1389888"/>
            <a:ext cx="1106424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783080"/>
            <a:ext cx="11064240" cy="4572000"/>
          </a:xfrm>
          <a:prstGeom prst="rect">
            <a:avLst/>
          </a:prstGeom>
          <a:noFill/>
        </p:spPr>
        <p:txBody>
          <a:bodyPr wrap="square">
            <a:spAutoFit/>
          </a:bodyPr>
          <a:lstStyle/>
          <a:p>
            <a:pPr algn="l">
              <a:spcBef>
                <a:spcPts val="0"/>
              </a:spcBef>
              <a:spcAft>
                <a:spcPts val="1100"/>
              </a:spcAft>
            </a:pPr>
            <a:r>
              <a:rPr sz="1400" b="1">
                <a:solidFill>
                  <a:srgbClr val="0B0B0B"/>
                </a:solidFill>
                <a:latin typeface="Segoe UI"/>
              </a:rPr>
              <a:t>Frame extraction — capture/extract_frames_from_video.py</a:t>
            </a:r>
          </a:p>
          <a:p>
            <a:pPr>
              <a:spcBef>
                <a:spcPts val="0"/>
              </a:spcBef>
              <a:spcAft>
                <a:spcPts val="1100"/>
              </a:spcAft>
            </a:pPr>
            <a:r>
              <a:rPr sz="1400" b="0">
                <a:solidFill>
                  <a:srgbClr val="52514E"/>
                </a:solidFill>
                <a:latin typeface="Segoe UI"/>
              </a:rPr>
              <a:t>OpenCV reported 2,472 frames for poses.mkv; only 2,468 actually decode — matching the original ffmpeg encode log. The script indexes off decoded frames, not the unreliable container estimate, so the tail of the recording isn't silently mislabelled. 823 frames written at 10 fps.</a:t>
            </a:r>
          </a:p>
          <a:p>
            <a:pPr>
              <a:spcBef>
                <a:spcPts val="0"/>
              </a:spcBef>
              <a:spcAft>
                <a:spcPts val="1100"/>
              </a:spcAft>
            </a:pPr>
            <a:r>
              <a:rPr sz="1400" b="1">
                <a:solidFill>
                  <a:srgbClr val="0B0B0B"/>
                </a:solidFill>
                <a:latin typeface="Segoe UI"/>
              </a:rPr>
              <a:t>Sync verification — check_sync.py</a:t>
            </a:r>
          </a:p>
          <a:p>
            <a:pPr>
              <a:spcBef>
                <a:spcPts val="0"/>
              </a:spcBef>
              <a:spcAft>
                <a:spcPts val="1100"/>
              </a:spcAft>
            </a:pPr>
            <a:r>
              <a:rPr sz="1400" b="0">
                <a:solidFill>
                  <a:srgbClr val="52514E"/>
                </a:solidFill>
                <a:latin typeface="Segoe UI"/>
              </a:rPr>
              <a:t>CSI spans 78.6 s, video spans 82.2 s; tcpdump and ffmpeg started ~3.5 s apart. 786 of 823 frames (95.5%) fall inside CSI coverage; the other 37 get a zero-padded window, handled gracefully.</a:t>
            </a:r>
          </a:p>
          <a:p>
            <a:pPr>
              <a:spcBef>
                <a:spcPts val="0"/>
              </a:spcBef>
              <a:spcAft>
                <a:spcPts val="1100"/>
              </a:spcAft>
            </a:pPr>
            <a:r>
              <a:rPr sz="1400" b="1">
                <a:solidFill>
                  <a:srgbClr val="0B0B0B"/>
                </a:solidFill>
                <a:latin typeface="Segoe UI"/>
              </a:rPr>
              <a:t>Label generation — data/build_labels.py</a:t>
            </a:r>
          </a:p>
          <a:p>
            <a:pPr>
              <a:spcBef>
                <a:spcPts val="0"/>
              </a:spcBef>
              <a:spcAft>
                <a:spcPts val="1100"/>
              </a:spcAft>
            </a:pPr>
            <a:r>
              <a:rPr sz="1400" b="0">
                <a:solidFill>
                  <a:srgbClr val="52514E"/>
                </a:solidFill>
                <a:latin typeface="Segoe UI"/>
              </a:rPr>
              <a:t>Mask R-CNN + HRNet-w32 over all 823 frames on CPU (~1 hour). Every frame produced a valid person detection; 13.75 of 17 keypoints visible on average.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a:spAutoFit/>
          </a:bodyPr>
          <a:lstStyle/>
          <a:p>
            <a:pPr algn="l">
              <a:spcBef>
                <a:spcPts val="0"/>
              </a:spcBef>
              <a:spcAft>
                <a:spcPts val="200"/>
              </a:spcAft>
            </a:pPr>
            <a:r>
              <a:rPr sz="3000" b="1">
                <a:solidFill>
                  <a:srgbClr val="0B0B0B"/>
                </a:solidFill>
                <a:latin typeface="Segoe UI"/>
              </a:rPr>
              <a:t>Phase 6 — Getting the stack to install</a:t>
            </a:r>
          </a:p>
          <a:p>
            <a:pPr>
              <a:spcBef>
                <a:spcPts val="0"/>
              </a:spcBef>
              <a:spcAft>
                <a:spcPts val="0"/>
              </a:spcAft>
            </a:pPr>
            <a:r>
              <a:rPr sz="1350" b="0">
                <a:solidFill>
                  <a:srgbClr val="898781"/>
                </a:solidFill>
                <a:latin typeface="Segoe UI"/>
              </a:rPr>
              <a:t>Five interlocking dependency conflicts, resolved in order</a:t>
            </a:r>
          </a:p>
        </p:txBody>
      </p:sp>
      <p:sp>
        <p:nvSpPr>
          <p:cNvPr id="3" name="Rectangle 2"/>
          <p:cNvSpPr/>
          <p:nvPr/>
        </p:nvSpPr>
        <p:spPr>
          <a:xfrm>
            <a:off x="566928" y="1389888"/>
            <a:ext cx="1106424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874519"/>
          <a:ext cx="11064240" cy="2304288"/>
        </p:xfrm>
        <a:graphic>
          <a:graphicData uri="http://schemas.openxmlformats.org/drawingml/2006/table">
            <a:tbl>
              <a:tblPr firstRow="1" bandRow="1">
                <a:tableStyleId>{5C22544A-7EE6-4342-B048-85BDC9FD1C3A}</a:tableStyleId>
              </a:tblPr>
              <a:tblGrid>
                <a:gridCol w="5760720"/>
                <a:gridCol w="5303520"/>
              </a:tblGrid>
              <a:tr h="329184">
                <a:tc>
                  <a:txBody>
                    <a:bodyPr/>
                    <a:lstStyle/>
                    <a:p>
                      <a:pPr>
                        <a:spcAft>
                          <a:spcPts val="0"/>
                        </a:spcAft>
                        <a:defRPr sz="1200" b="1">
                          <a:solidFill>
                            <a:srgbClr val="0B0B0B"/>
                          </a:solidFill>
                          <a:latin typeface="Segoe UI"/>
                        </a:defRPr>
                      </a:pPr>
                      <a:r>
                        <a:t>Problem</a:t>
                      </a:r>
                    </a:p>
                  </a:txBody>
                  <a:tcPr marL="82296" marR="82296" marT="27432" marB="27432" anchor="ctr">
                    <a:solidFill>
                      <a:srgbClr val="F0EFEC"/>
                    </a:solidFill>
                  </a:tcPr>
                </a:tc>
                <a:tc>
                  <a:txBody>
                    <a:bodyPr/>
                    <a:lstStyle/>
                    <a:p>
                      <a:pPr>
                        <a:spcAft>
                          <a:spcPts val="0"/>
                        </a:spcAft>
                        <a:defRPr sz="1200" b="1">
                          <a:solidFill>
                            <a:srgbClr val="0B0B0B"/>
                          </a:solidFill>
                          <a:latin typeface="Segoe UI"/>
                        </a:defRPr>
                      </a:pPr>
                      <a:r>
                        <a:t>Resolution</a:t>
                      </a:r>
                    </a:p>
                  </a:txBody>
                  <a:tcPr marL="82296" marR="82296" marT="27432" marB="27432" anchor="ctr">
                    <a:solidFill>
                      <a:srgbClr val="F0EFEC"/>
                    </a:solidFill>
                  </a:tcPr>
                </a:tc>
              </a:tr>
              <a:tr h="329184">
                <a:tc>
                  <a:txBody>
                    <a:bodyPr/>
                    <a:lstStyle/>
                    <a:p>
                      <a:pPr>
                        <a:spcAft>
                          <a:spcPts val="0"/>
                        </a:spcAft>
                        <a:defRPr sz="1200" b="0">
                          <a:solidFill>
                            <a:srgbClr val="52514E"/>
                          </a:solidFill>
                          <a:latin typeface="Segoe UI"/>
                        </a:defRPr>
                      </a:pPr>
                      <a:r>
                        <a:t>No Python env had torch / mmpose / mmcv at all</a:t>
                      </a:r>
                    </a:p>
                  </a:txBody>
                  <a:tcPr marL="82296" marR="82296" marT="27432" marB="27432" anchor="ctr">
                    <a:solidFill>
                      <a:srgbClr val="FCFCFB"/>
                    </a:solidFill>
                  </a:tcPr>
                </a:tc>
                <a:tc>
                  <a:txBody>
                    <a:bodyPr/>
                    <a:lstStyle/>
                    <a:p>
                      <a:pPr>
                        <a:spcAft>
                          <a:spcPts val="0"/>
                        </a:spcAft>
                        <a:defRPr sz="1200" b="0">
                          <a:solidFill>
                            <a:srgbClr val="52514E"/>
                          </a:solidFill>
                          <a:latin typeface="Segoe UI"/>
                        </a:defRPr>
                      </a:pPr>
                      <a:r>
                        <a:t>Created a dedicated venv</a:t>
                      </a:r>
                    </a:p>
                  </a:txBody>
                  <a:tcPr marL="82296" marR="82296" marT="27432" marB="27432" anchor="ctr">
                    <a:solidFill>
                      <a:srgbClr val="FCFCFB"/>
                    </a:solidFill>
                  </a:tcPr>
                </a:tc>
              </a:tr>
              <a:tr h="329184">
                <a:tc>
                  <a:txBody>
                    <a:bodyPr/>
                    <a:lstStyle/>
                    <a:p>
                      <a:pPr>
                        <a:spcAft>
                          <a:spcPts val="0"/>
                        </a:spcAft>
                        <a:defRPr sz="1200" b="0">
                          <a:solidFill>
                            <a:srgbClr val="52514E"/>
                          </a:solidFill>
                          <a:latin typeface="Segoe UI"/>
                        </a:defRPr>
                      </a:pPr>
                      <a:r>
                        <a:t>mim broke: setuptools ≥ 77 removed pkg_resources</a:t>
                      </a:r>
                    </a:p>
                  </a:txBody>
                  <a:tcPr marL="82296" marR="82296" marT="27432" marB="27432" anchor="ctr">
                    <a:solidFill>
                      <a:srgbClr val="FCFCFB"/>
                    </a:solidFill>
                  </a:tcPr>
                </a:tc>
                <a:tc>
                  <a:txBody>
                    <a:bodyPr/>
                    <a:lstStyle/>
                    <a:p>
                      <a:pPr>
                        <a:spcAft>
                          <a:spcPts val="0"/>
                        </a:spcAft>
                        <a:defRPr sz="1200" b="0">
                          <a:solidFill>
                            <a:srgbClr val="52514E"/>
                          </a:solidFill>
                          <a:latin typeface="Segoe UI"/>
                        </a:defRPr>
                      </a:pPr>
                      <a:r>
                        <a:t>Pinned setuptools 70.0.0</a:t>
                      </a:r>
                    </a:p>
                  </a:txBody>
                  <a:tcPr marL="82296" marR="82296" marT="27432" marB="27432" anchor="ctr">
                    <a:solidFill>
                      <a:srgbClr val="FCFCFB"/>
                    </a:solidFill>
                  </a:tcPr>
                </a:tc>
              </a:tr>
              <a:tr h="329184">
                <a:tc>
                  <a:txBody>
                    <a:bodyPr/>
                    <a:lstStyle/>
                    <a:p>
                      <a:pPr>
                        <a:spcAft>
                          <a:spcPts val="0"/>
                        </a:spcAft>
                        <a:defRPr sz="1200" b="0">
                          <a:solidFill>
                            <a:srgbClr val="52514E"/>
                          </a:solidFill>
                          <a:latin typeface="Segoe UI"/>
                        </a:defRPr>
                      </a:pPr>
                      <a:r>
                        <a:t>No prebuilt mmcv wheel for torch 2.14</a:t>
                      </a:r>
                    </a:p>
                  </a:txBody>
                  <a:tcPr marL="82296" marR="82296" marT="27432" marB="27432" anchor="ctr">
                    <a:solidFill>
                      <a:srgbClr val="FCFCFB"/>
                    </a:solidFill>
                  </a:tcPr>
                </a:tc>
                <a:tc>
                  <a:txBody>
                    <a:bodyPr/>
                    <a:lstStyle/>
                    <a:p>
                      <a:pPr>
                        <a:spcAft>
                          <a:spcPts val="0"/>
                        </a:spcAft>
                        <a:defRPr sz="1200" b="0">
                          <a:solidFill>
                            <a:srgbClr val="52514E"/>
                          </a:solidFill>
                          <a:latin typeface="Segoe UI"/>
                        </a:defRPr>
                      </a:pPr>
                      <a:r>
                        <a:t>Pinned torch 2.1.0 + torchvision 0.16.0 (CPU)</a:t>
                      </a:r>
                    </a:p>
                  </a:txBody>
                  <a:tcPr marL="82296" marR="82296" marT="27432" marB="27432" anchor="ctr">
                    <a:solidFill>
                      <a:srgbClr val="FCFCFB"/>
                    </a:solidFill>
                  </a:tcPr>
                </a:tc>
              </a:tr>
              <a:tr h="329184">
                <a:tc>
                  <a:txBody>
                    <a:bodyPr/>
                    <a:lstStyle/>
                    <a:p>
                      <a:pPr>
                        <a:spcAft>
                          <a:spcPts val="0"/>
                        </a:spcAft>
                        <a:defRPr sz="1200" b="0">
                          <a:solidFill>
                            <a:srgbClr val="52514E"/>
                          </a:solidFill>
                          <a:latin typeface="Segoe UI"/>
                        </a:defRPr>
                      </a:pPr>
                      <a:r>
                        <a:t>torch 2.1 built against NumPy 1.x; NumPy 2.4 installed</a:t>
                      </a:r>
                    </a:p>
                  </a:txBody>
                  <a:tcPr marL="82296" marR="82296" marT="27432" marB="27432" anchor="ctr">
                    <a:solidFill>
                      <a:srgbClr val="FCFCFB"/>
                    </a:solidFill>
                  </a:tcPr>
                </a:tc>
                <a:tc>
                  <a:txBody>
                    <a:bodyPr/>
                    <a:lstStyle/>
                    <a:p>
                      <a:pPr>
                        <a:spcAft>
                          <a:spcPts val="0"/>
                        </a:spcAft>
                        <a:defRPr sz="1200" b="0">
                          <a:solidFill>
                            <a:srgbClr val="52514E"/>
                          </a:solidFill>
                          <a:latin typeface="Segoe UI"/>
                        </a:defRPr>
                      </a:pPr>
                      <a:r>
                        <a:t>Pinned numpy &lt; 2 (verified torch.from_numpy works)</a:t>
                      </a:r>
                    </a:p>
                  </a:txBody>
                  <a:tcPr marL="82296" marR="82296" marT="27432" marB="27432" anchor="ctr">
                    <a:solidFill>
                      <a:srgbClr val="FCFCFB"/>
                    </a:solidFill>
                  </a:tcPr>
                </a:tc>
              </a:tr>
              <a:tr h="329184">
                <a:tc>
                  <a:txBody>
                    <a:bodyPr/>
                    <a:lstStyle/>
                    <a:p>
                      <a:pPr>
                        <a:spcAft>
                          <a:spcPts val="0"/>
                        </a:spcAft>
                        <a:defRPr sz="1200" b="0">
                          <a:solidFill>
                            <a:srgbClr val="52514E"/>
                          </a:solidFill>
                          <a:latin typeface="Segoe UI"/>
                        </a:defRPr>
                      </a:pPr>
                      <a:r>
                        <a:t>chumpy (mmpose dep) can't build — legacy setup.py</a:t>
                      </a:r>
                    </a:p>
                  </a:txBody>
                  <a:tcPr marL="82296" marR="82296" marT="27432" marB="27432" anchor="ctr">
                    <a:solidFill>
                      <a:srgbClr val="FCFCFB"/>
                    </a:solidFill>
                  </a:tcPr>
                </a:tc>
                <a:tc>
                  <a:txBody>
                    <a:bodyPr/>
                    <a:lstStyle/>
                    <a:p>
                      <a:pPr>
                        <a:spcAft>
                          <a:spcPts val="0"/>
                        </a:spcAft>
                        <a:defRPr sz="1200" b="0">
                          <a:solidFill>
                            <a:srgbClr val="52514E"/>
                          </a:solidFill>
                          <a:latin typeface="Segoe UI"/>
                        </a:defRPr>
                      </a:pPr>
                      <a:r>
                        <a:t>Installed wheel + --no-build-isolation</a:t>
                      </a:r>
                    </a:p>
                  </a:txBody>
                  <a:tcPr marL="82296" marR="82296" marT="27432" marB="27432" anchor="ctr">
                    <a:solidFill>
                      <a:srgbClr val="FCFCFB"/>
                    </a:solidFill>
                  </a:tcPr>
                </a:tc>
              </a:tr>
              <a:tr h="329184">
                <a:tc>
                  <a:txBody>
                    <a:bodyPr/>
                    <a:lstStyle/>
                    <a:p>
                      <a:pPr>
                        <a:spcAft>
                          <a:spcPts val="0"/>
                        </a:spcAft>
                        <a:defRPr sz="1200" b="0">
                          <a:solidFill>
                            <a:srgbClr val="52514E"/>
                          </a:solidFill>
                          <a:latin typeface="Segoe UI"/>
                        </a:defRPr>
                      </a:pPr>
                      <a:r>
                        <a:t>mmdet 3.3 needs mmcv &lt; 2.2; mmpose 1.3 needs mmdet &lt; 3.3</a:t>
                      </a:r>
                    </a:p>
                  </a:txBody>
                  <a:tcPr marL="82296" marR="82296" marT="27432" marB="27432" anchor="ctr">
                    <a:solidFill>
                      <a:srgbClr val="FCFCFB"/>
                    </a:solidFill>
                  </a:tcPr>
                </a:tc>
                <a:tc>
                  <a:txBody>
                    <a:bodyPr/>
                    <a:lstStyle/>
                    <a:p>
                      <a:pPr>
                        <a:spcAft>
                          <a:spcPts val="0"/>
                        </a:spcAft>
                        <a:defRPr sz="1200" b="0">
                          <a:solidFill>
                            <a:srgbClr val="52514E"/>
                          </a:solidFill>
                          <a:latin typeface="Segoe UI"/>
                        </a:defRPr>
                      </a:pPr>
                      <a:r>
                        <a:t>Pinned mmcv 2.1.0 + mmdet 3.2.0</a:t>
                      </a:r>
                    </a:p>
                  </a:txBody>
                  <a:tcPr marL="82296" marR="82296" marT="27432" marB="27432" anchor="ctr">
                    <a:solidFill>
                      <a:srgbClr val="FCFCFB"/>
                    </a:solidFill>
                  </a:tcPr>
                </a:tc>
              </a:tr>
            </a:tbl>
          </a:graphicData>
        </a:graphic>
      </p:graphicFrame>
      <p:sp>
        <p:nvSpPr>
          <p:cNvPr id="5" name="TextBox 4"/>
          <p:cNvSpPr txBox="1"/>
          <p:nvPr/>
        </p:nvSpPr>
        <p:spPr>
          <a:xfrm>
            <a:off x="566928" y="5166360"/>
            <a:ext cx="11064240" cy="1188720"/>
          </a:xfrm>
          <a:prstGeom prst="rect">
            <a:avLst/>
          </a:prstGeom>
          <a:noFill/>
        </p:spPr>
        <p:txBody>
          <a:bodyPr wrap="square">
            <a:spAutoFit/>
          </a:bodyPr>
          <a:lstStyle/>
          <a:p>
            <a:pPr algn="l">
              <a:spcBef>
                <a:spcPts val="0"/>
              </a:spcBef>
              <a:spcAft>
                <a:spcPts val="600"/>
              </a:spcAft>
            </a:pPr>
            <a:r>
              <a:rPr sz="1350" b="0">
                <a:solidFill>
                  <a:srgbClr val="52514E"/>
                </a:solidFill>
                <a:latin typeface="Segoe UI"/>
              </a:rPr>
              <a:t>Verified end state: every package imports together, mmpose.apis loads, and HRNet-w32 COCO weights were fetched through mim rather than a guessed checkpoint URL.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a:spAutoFit/>
          </a:bodyPr>
          <a:lstStyle/>
          <a:p>
            <a:pPr algn="l">
              <a:spcBef>
                <a:spcPts val="0"/>
              </a:spcBef>
              <a:spcAft>
                <a:spcPts val="200"/>
              </a:spcAft>
            </a:pPr>
            <a:r>
              <a:rPr sz="3000" b="1">
                <a:solidFill>
                  <a:srgbClr val="0B0B0B"/>
                </a:solidFill>
                <a:latin typeface="Segoe UI"/>
              </a:rPr>
              <a:t>Phase 7 — Training</a:t>
            </a:r>
          </a:p>
          <a:p>
            <a:pPr>
              <a:spcBef>
                <a:spcPts val="0"/>
              </a:spcBef>
              <a:spcAft>
                <a:spcPts val="0"/>
              </a:spcAft>
            </a:pPr>
            <a:r>
              <a:rPr sz="1350" b="0">
                <a:solidFill>
                  <a:srgbClr val="898781"/>
                </a:solidFill>
                <a:latin typeface="Segoe UI"/>
              </a:rPr>
              <a:t>50 epochs, CPU only, 658 train / 165 held-out test frames</a:t>
            </a:r>
          </a:p>
        </p:txBody>
      </p:sp>
      <p:sp>
        <p:nvSpPr>
          <p:cNvPr id="3" name="Rectangle 2"/>
          <p:cNvSpPr/>
          <p:nvPr/>
        </p:nvSpPr>
        <p:spPr>
          <a:xfrm>
            <a:off x="566928" y="1389888"/>
            <a:ext cx="1106424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ss_curves.png"/>
          <p:cNvPicPr>
            <a:picLocks noChangeAspect="1"/>
          </p:cNvPicPr>
          <p:nvPr/>
        </p:nvPicPr>
        <p:blipFill>
          <a:blip r:embed="rId2"/>
          <a:stretch>
            <a:fillRect/>
          </a:stretch>
        </p:blipFill>
        <p:spPr>
          <a:xfrm>
            <a:off x="768449" y="1691640"/>
            <a:ext cx="6546396" cy="4663440"/>
          </a:xfrm>
          <a:prstGeom prst="rect">
            <a:avLst/>
          </a:prstGeom>
        </p:spPr>
      </p:pic>
      <p:sp>
        <p:nvSpPr>
          <p:cNvPr id="5" name="TextBox 4"/>
          <p:cNvSpPr txBox="1"/>
          <p:nvPr/>
        </p:nvSpPr>
        <p:spPr>
          <a:xfrm>
            <a:off x="7772400" y="1920240"/>
            <a:ext cx="3931920" cy="4206240"/>
          </a:xfrm>
          <a:prstGeom prst="rect">
            <a:avLst/>
          </a:prstGeom>
          <a:noFill/>
        </p:spPr>
        <p:txBody>
          <a:bodyPr wrap="square">
            <a:spAutoFit/>
          </a:bodyPr>
          <a:lstStyle/>
          <a:p>
            <a:pPr algn="l">
              <a:spcBef>
                <a:spcPts val="0"/>
              </a:spcBef>
              <a:spcAft>
                <a:spcPts val="1000"/>
              </a:spcAft>
            </a:pPr>
            <a:r>
              <a:rPr sz="1550" b="1">
                <a:solidFill>
                  <a:srgbClr val="0B0B0B"/>
                </a:solidFill>
                <a:latin typeface="Segoe UI"/>
              </a:rPr>
              <a:t>Reading the curves</a:t>
            </a:r>
          </a:p>
          <a:p>
            <a:pPr>
              <a:spcBef>
                <a:spcPts val="0"/>
              </a:spcBef>
              <a:spcAft>
                <a:spcPts val="1000"/>
              </a:spcAft>
            </a:pPr>
            <a:r>
              <a:rPr sz="1300" b="0">
                <a:solidFill>
                  <a:srgbClr val="52514E"/>
                </a:solidFill>
                <a:latin typeface="Segoe UI"/>
              </a:rPr>
              <a:t>Both losses show the same healthy shape: a steep drop in the first few epochs, then a slow decline into a noisy plateau.</a:t>
            </a:r>
          </a:p>
          <a:p>
            <a:pPr>
              <a:spcBef>
                <a:spcPts val="0"/>
              </a:spcBef>
              <a:spcAft>
                <a:spcPts val="1000"/>
              </a:spcAft>
            </a:pPr>
            <a:r>
              <a:rPr sz="1300" b="0">
                <a:solidFill>
                  <a:srgbClr val="52514E"/>
                </a:solidFill>
                <a:latin typeface="Segoe UI"/>
              </a:rPr>
              <a:t>Mask loss is large in absolute terms because Eqn. 12 is an unnormalised sum over pixels, not an average — the trend matters, not the magnitude.</a:t>
            </a:r>
          </a:p>
          <a:p>
            <a:pPr>
              <a:spcBef>
                <a:spcPts val="0"/>
              </a:spcBef>
              <a:spcAft>
                <a:spcPts val="0"/>
              </a:spcAft>
            </a:pPr>
            <a:r>
              <a:rPr sz="1300" b="0">
                <a:solidFill>
                  <a:srgbClr val="52514E"/>
                </a:solidFill>
                <a:latin typeface="Segoe UI"/>
              </a:rPr>
              <a:t>The plateau from roughly epoch 20 onward says the model has extracted most of what this single session supports at this capacity and learning rate.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a:spAutoFit/>
          </a:bodyPr>
          <a:lstStyle/>
          <a:p>
            <a:pPr algn="l">
              <a:spcBef>
                <a:spcPts val="0"/>
              </a:spcBef>
              <a:spcAft>
                <a:spcPts val="200"/>
              </a:spcAft>
            </a:pPr>
            <a:r>
              <a:rPr sz="3000" b="1">
                <a:solidFill>
                  <a:srgbClr val="0B0B0B"/>
                </a:solidFill>
                <a:latin typeface="Segoe UI"/>
              </a:rPr>
              <a:t>Result — pose, before and after training</a:t>
            </a:r>
          </a:p>
          <a:p>
            <a:pPr>
              <a:spcBef>
                <a:spcPts val="0"/>
              </a:spcBef>
              <a:spcAft>
                <a:spcPts val="0"/>
              </a:spcAft>
            </a:pPr>
            <a:r>
              <a:rPr sz="1350" b="0">
                <a:solidFill>
                  <a:srgbClr val="898781"/>
                </a:solidFill>
                <a:latin typeface="Segoe UI"/>
              </a:rPr>
              <a:t>Predicted skeleton in red, vision-branch ground truth in green</a:t>
            </a:r>
          </a:p>
        </p:txBody>
      </p:sp>
      <p:sp>
        <p:nvSpPr>
          <p:cNvPr id="3" name="Rectangle 2"/>
          <p:cNvSpPr/>
          <p:nvPr/>
        </p:nvSpPr>
        <p:spPr>
          <a:xfrm>
            <a:off x="566928" y="1389888"/>
            <a:ext cx="1106424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99616"/>
            <a:ext cx="11064240" cy="365760"/>
          </a:xfrm>
          <a:prstGeom prst="rect">
            <a:avLst/>
          </a:prstGeom>
          <a:noFill/>
        </p:spPr>
        <p:txBody>
          <a:bodyPr wrap="square">
            <a:spAutoFit/>
          </a:bodyPr>
          <a:lstStyle/>
          <a:p>
            <a:pPr algn="l">
              <a:spcBef>
                <a:spcPts val="0"/>
              </a:spcBef>
              <a:spcAft>
                <a:spcPts val="600"/>
              </a:spcAft>
            </a:pPr>
            <a:r>
              <a:rPr sz="1350" b="1">
                <a:solidFill>
                  <a:srgbClr val="52514E"/>
                </a:solidFill>
                <a:latin typeface="Segoe UI"/>
              </a:rPr>
              <a:t>2-epoch baseline — the same generic skeleton in every frame, regardless of the actual pose</a:t>
            </a:r>
          </a:p>
        </p:txBody>
      </p:sp>
      <p:pic>
        <p:nvPicPr>
          <p:cNvPr id="5" name="Picture 4" descr="skeleton_overlay.png"/>
          <p:cNvPicPr>
            <a:picLocks noChangeAspect="1"/>
          </p:cNvPicPr>
          <p:nvPr/>
        </p:nvPicPr>
        <p:blipFill>
          <a:blip r:embed="rId2"/>
          <a:stretch>
            <a:fillRect/>
          </a:stretch>
        </p:blipFill>
        <p:spPr>
          <a:xfrm>
            <a:off x="734567" y="1828800"/>
            <a:ext cx="10728960" cy="2011680"/>
          </a:xfrm>
          <a:prstGeom prst="rect">
            <a:avLst/>
          </a:prstGeom>
        </p:spPr>
      </p:pic>
      <p:sp>
        <p:nvSpPr>
          <p:cNvPr id="6" name="TextBox 5"/>
          <p:cNvSpPr txBox="1"/>
          <p:nvPr/>
        </p:nvSpPr>
        <p:spPr>
          <a:xfrm>
            <a:off x="566928" y="3877056"/>
            <a:ext cx="11064240" cy="365760"/>
          </a:xfrm>
          <a:prstGeom prst="rect">
            <a:avLst/>
          </a:prstGeom>
          <a:noFill/>
        </p:spPr>
        <p:txBody>
          <a:bodyPr wrap="square">
            <a:spAutoFit/>
          </a:bodyPr>
          <a:lstStyle/>
          <a:p>
            <a:pPr algn="l">
              <a:spcBef>
                <a:spcPts val="0"/>
              </a:spcBef>
              <a:spcAft>
                <a:spcPts val="600"/>
              </a:spcAft>
            </a:pPr>
            <a:r>
              <a:rPr sz="1350" b="1">
                <a:solidFill>
                  <a:srgbClr val="0CA30C"/>
                </a:solidFill>
                <a:latin typeface="Segoe UI"/>
              </a:rPr>
              <a:t>After 50 epochs — arms now track the real configuration: wide, together, raised, reaching</a:t>
            </a:r>
          </a:p>
        </p:txBody>
      </p:sp>
      <p:pic>
        <p:nvPicPr>
          <p:cNvPr id="7" name="Picture 6" descr="skeleton_overlay.png"/>
          <p:cNvPicPr>
            <a:picLocks noChangeAspect="1"/>
          </p:cNvPicPr>
          <p:nvPr/>
        </p:nvPicPr>
        <p:blipFill>
          <a:blip r:embed="rId3"/>
          <a:stretch>
            <a:fillRect/>
          </a:stretch>
        </p:blipFill>
        <p:spPr>
          <a:xfrm>
            <a:off x="734567" y="4206240"/>
            <a:ext cx="10728960" cy="2011680"/>
          </a:xfrm>
          <a:prstGeom prst="rect">
            <a:avLst/>
          </a:prstGeom>
        </p:spPr>
      </p:pic>
      <p:sp>
        <p:nvSpPr>
          <p:cNvPr id="8" name="TextBox 7"/>
          <p:cNvSpPr txBox="1"/>
          <p:nvPr/>
        </p:nvSpPr>
        <p:spPr>
          <a:xfrm>
            <a:off x="566928" y="6272784"/>
            <a:ext cx="11064240" cy="457200"/>
          </a:xfrm>
          <a:prstGeom prst="rect">
            <a:avLst/>
          </a:prstGeom>
          <a:noFill/>
        </p:spPr>
        <p:txBody>
          <a:bodyPr wrap="square">
            <a:spAutoFit/>
          </a:bodyPr>
          <a:lstStyle/>
          <a:p>
            <a:pPr algn="l">
              <a:spcBef>
                <a:spcPts val="0"/>
              </a:spcBef>
              <a:spcAft>
                <a:spcPts val="600"/>
              </a:spcAft>
            </a:pPr>
            <a:r>
              <a:rPr sz="1200" b="0">
                <a:solidFill>
                  <a:srgbClr val="898781"/>
                </a:solidFill>
                <a:latin typeface="Segoe UI"/>
              </a:rPr>
              <a:t>Legs and ankles stay weak throughout — they are partly out of frame and move less informatively in this session.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a:spAutoFit/>
          </a:bodyPr>
          <a:lstStyle/>
          <a:p>
            <a:pPr algn="l">
              <a:spcBef>
                <a:spcPts val="0"/>
              </a:spcBef>
              <a:spcAft>
                <a:spcPts val="200"/>
              </a:spcAft>
            </a:pPr>
            <a:r>
              <a:rPr sz="3000" b="1">
                <a:solidFill>
                  <a:srgbClr val="0B0B0B"/>
                </a:solidFill>
                <a:latin typeface="Segoe UI"/>
              </a:rPr>
              <a:t>Result — mask, before and after training</a:t>
            </a:r>
          </a:p>
          <a:p>
            <a:pPr>
              <a:spcBef>
                <a:spcPts val="0"/>
              </a:spcBef>
              <a:spcAft>
                <a:spcPts val="0"/>
              </a:spcAft>
            </a:pPr>
            <a:r>
              <a:rPr sz="1350" b="0">
                <a:solidFill>
                  <a:srgbClr val="898781"/>
                </a:solidFill>
                <a:latin typeface="Segoe UI"/>
              </a:rPr>
              <a:t>Same three frames, ground truth beside both checkpoints</a:t>
            </a:r>
          </a:p>
        </p:txBody>
      </p:sp>
      <p:sp>
        <p:nvSpPr>
          <p:cNvPr id="3" name="Rectangle 2"/>
          <p:cNvSpPr/>
          <p:nvPr/>
        </p:nvSpPr>
        <p:spPr>
          <a:xfrm>
            <a:off x="566928" y="1389888"/>
            <a:ext cx="1106424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ask_before_after.png"/>
          <p:cNvPicPr>
            <a:picLocks noChangeAspect="1"/>
          </p:cNvPicPr>
          <p:nvPr/>
        </p:nvPicPr>
        <p:blipFill>
          <a:blip r:embed="rId2"/>
          <a:stretch>
            <a:fillRect/>
          </a:stretch>
        </p:blipFill>
        <p:spPr>
          <a:xfrm>
            <a:off x="2609295" y="1645920"/>
            <a:ext cx="6942928" cy="4114800"/>
          </a:xfrm>
          <a:prstGeom prst="rect">
            <a:avLst/>
          </a:prstGeom>
        </p:spPr>
      </p:pic>
      <p:sp>
        <p:nvSpPr>
          <p:cNvPr id="5" name="TextBox 4"/>
          <p:cNvSpPr txBox="1"/>
          <p:nvPr/>
        </p:nvSpPr>
        <p:spPr>
          <a:xfrm>
            <a:off x="566928" y="5897880"/>
            <a:ext cx="11064240" cy="731520"/>
          </a:xfrm>
          <a:prstGeom prst="rect">
            <a:avLst/>
          </a:prstGeom>
          <a:noFill/>
        </p:spPr>
        <p:txBody>
          <a:bodyPr wrap="square">
            <a:spAutoFit/>
          </a:bodyPr>
          <a:lstStyle/>
          <a:p>
            <a:pPr algn="l">
              <a:spcBef>
                <a:spcPts val="0"/>
              </a:spcBef>
              <a:spcAft>
                <a:spcPts val="600"/>
              </a:spcAft>
            </a:pPr>
            <a:r>
              <a:rPr sz="1300" b="0">
                <a:solidFill>
                  <a:srgbClr val="52514E"/>
                </a:solidFill>
                <a:latin typeface="Segoe UI"/>
              </a:rPr>
              <a:t>At 2 epochs the mask is a fixed blob, identical in every frame. After training it reproduces the raised arm and the extended arm — the silhouette now responds to the input signal, though it stays softer than the ground truth.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a:spAutoFit/>
          </a:bodyPr>
          <a:lstStyle/>
          <a:p>
            <a:pPr algn="l">
              <a:spcBef>
                <a:spcPts val="0"/>
              </a:spcBef>
              <a:spcAft>
                <a:spcPts val="200"/>
              </a:spcAft>
            </a:pPr>
            <a:r>
              <a:rPr sz="3000" b="1">
                <a:solidFill>
                  <a:srgbClr val="0B0B0B"/>
                </a:solidFill>
                <a:latin typeface="Segoe UI"/>
              </a:rPr>
              <a:t>Phase 8 — Measured performance</a:t>
            </a:r>
          </a:p>
          <a:p>
            <a:pPr>
              <a:spcBef>
                <a:spcPts val="0"/>
              </a:spcBef>
              <a:spcAft>
                <a:spcPts val="0"/>
              </a:spcAft>
            </a:pPr>
            <a:r>
              <a:rPr sz="1350" b="0">
                <a:solidFill>
                  <a:srgbClr val="898781"/>
                </a:solidFill>
                <a:latin typeface="Segoe UI"/>
              </a:rPr>
              <a:t>evaluate.py — the paper's Eqn. 15 mask mAP and Eqn. 17 single-person PCK</a:t>
            </a:r>
          </a:p>
        </p:txBody>
      </p:sp>
      <p:sp>
        <p:nvSpPr>
          <p:cNvPr id="3" name="Rectangle 2"/>
          <p:cNvSpPr/>
          <p:nvPr/>
        </p:nvSpPr>
        <p:spPr>
          <a:xfrm>
            <a:off x="566928" y="1389888"/>
            <a:ext cx="1106424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trics_comparison.png"/>
          <p:cNvPicPr>
            <a:picLocks noChangeAspect="1"/>
          </p:cNvPicPr>
          <p:nvPr/>
        </p:nvPicPr>
        <p:blipFill>
          <a:blip r:embed="rId2"/>
          <a:stretch>
            <a:fillRect/>
          </a:stretch>
        </p:blipFill>
        <p:spPr>
          <a:xfrm>
            <a:off x="566928" y="2193925"/>
            <a:ext cx="7498079" cy="3384549"/>
          </a:xfrm>
          <a:prstGeom prst="rect">
            <a:avLst/>
          </a:prstGeom>
        </p:spPr>
      </p:pic>
      <p:sp>
        <p:nvSpPr>
          <p:cNvPr id="5" name="TextBox 4"/>
          <p:cNvSpPr txBox="1"/>
          <p:nvPr/>
        </p:nvSpPr>
        <p:spPr>
          <a:xfrm>
            <a:off x="8321040" y="1920240"/>
            <a:ext cx="3383280" cy="4206240"/>
          </a:xfrm>
          <a:prstGeom prst="rect">
            <a:avLst/>
          </a:prstGeom>
          <a:noFill/>
        </p:spPr>
        <p:txBody>
          <a:bodyPr wrap="square">
            <a:spAutoFit/>
          </a:bodyPr>
          <a:lstStyle/>
          <a:p>
            <a:pPr algn="l">
              <a:spcBef>
                <a:spcPts val="0"/>
              </a:spcBef>
              <a:spcAft>
                <a:spcPts val="800"/>
              </a:spcAft>
            </a:pPr>
            <a:r>
              <a:rPr sz="1500" b="1">
                <a:solidFill>
                  <a:srgbClr val="0B0B0B"/>
                </a:solidFill>
                <a:latin typeface="Segoe UI"/>
              </a:rPr>
              <a:t>Mask improved most</a:t>
            </a:r>
          </a:p>
          <a:p>
            <a:pPr>
              <a:spcBef>
                <a:spcPts val="0"/>
              </a:spcBef>
              <a:spcAft>
                <a:spcPts val="1200"/>
              </a:spcAft>
            </a:pPr>
            <a:r>
              <a:rPr sz="1250" b="0">
                <a:solidFill>
                  <a:srgbClr val="52514E"/>
                </a:solidFill>
                <a:latin typeface="Segoe UI"/>
              </a:rPr>
              <a:t>mAP 0.143 → 0.250 (+75%), and gains at every IoU threshold.</a:t>
            </a:r>
          </a:p>
          <a:p>
            <a:pPr>
              <a:spcBef>
                <a:spcPts val="0"/>
              </a:spcBef>
              <a:spcAft>
                <a:spcPts val="800"/>
              </a:spcAft>
            </a:pPr>
            <a:r>
              <a:rPr sz="1500" b="1">
                <a:solidFill>
                  <a:srgbClr val="0B0B0B"/>
                </a:solidFill>
                <a:latin typeface="Segoe UI"/>
              </a:rPr>
              <a:t>Loose PCK was already high</a:t>
            </a:r>
          </a:p>
          <a:p>
            <a:pPr>
              <a:spcBef>
                <a:spcPts val="0"/>
              </a:spcBef>
              <a:spcAft>
                <a:spcPts val="1200"/>
              </a:spcAft>
            </a:pPr>
            <a:r>
              <a:rPr sz="1250" b="0">
                <a:solidFill>
                  <a:srgbClr val="52514E"/>
                </a:solidFill>
                <a:latin typeface="Segoe UI"/>
              </a:rPr>
              <a:t>PCK@0.3–0.5 barely moved: face, torso and hips hardly shift between poses, so a near-average guess already passed a loose threshold.</a:t>
            </a:r>
          </a:p>
          <a:p>
            <a:pPr>
              <a:spcBef>
                <a:spcPts val="0"/>
              </a:spcBef>
              <a:spcAft>
                <a:spcPts val="800"/>
              </a:spcAft>
            </a:pPr>
            <a:r>
              <a:rPr sz="1500" b="1">
                <a:solidFill>
                  <a:srgbClr val="0B0B0B"/>
                </a:solidFill>
                <a:latin typeface="Segoe UI"/>
              </a:rPr>
              <a:t>PCK@0.1 is the real signal</a:t>
            </a:r>
          </a:p>
          <a:p>
            <a:pPr>
              <a:spcBef>
                <a:spcPts val="0"/>
              </a:spcBef>
              <a:spcAft>
                <a:spcPts val="0"/>
              </a:spcAft>
            </a:pPr>
            <a:r>
              <a:rPr sz="1250" b="0">
                <a:solidFill>
                  <a:srgbClr val="52514E"/>
                </a:solidFill>
                <a:latin typeface="Segoe UI"/>
              </a:rPr>
              <a:t>The tight threshold rose 41% — this is the metric that punishes a frozen skeleton, and it moved most.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a:spAutoFit/>
          </a:bodyPr>
          <a:lstStyle/>
          <a:p>
            <a:pPr algn="l">
              <a:spcBef>
                <a:spcPts val="0"/>
              </a:spcBef>
              <a:spcAft>
                <a:spcPts val="200"/>
              </a:spcAft>
            </a:pPr>
            <a:r>
              <a:rPr sz="3000" b="1">
                <a:solidFill>
                  <a:srgbClr val="0B0B0B"/>
                </a:solidFill>
                <a:latin typeface="Segoe UI"/>
              </a:rPr>
              <a:t>What these numbers do and don't say</a:t>
            </a:r>
          </a:p>
          <a:p>
            <a:pPr>
              <a:spcBef>
                <a:spcPts val="0"/>
              </a:spcBef>
              <a:spcAft>
                <a:spcPts val="0"/>
              </a:spcAft>
            </a:pPr>
            <a:r>
              <a:rPr sz="1350" b="0">
                <a:solidFill>
                  <a:srgbClr val="898781"/>
                </a:solidFill>
                <a:latin typeface="Segoe UI"/>
              </a:rPr>
              <a:t>Stated plainly, so the results aren't over-read</a:t>
            </a:r>
          </a:p>
        </p:txBody>
      </p:sp>
      <p:sp>
        <p:nvSpPr>
          <p:cNvPr id="3" name="Rectangle 2"/>
          <p:cNvSpPr/>
          <p:nvPr/>
        </p:nvSpPr>
        <p:spPr>
          <a:xfrm>
            <a:off x="566928" y="1389888"/>
            <a:ext cx="1106424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783080"/>
            <a:ext cx="11064240" cy="4572000"/>
          </a:xfrm>
          <a:prstGeom prst="rect">
            <a:avLst/>
          </a:prstGeom>
          <a:noFill/>
        </p:spPr>
        <p:txBody>
          <a:bodyPr wrap="square">
            <a:spAutoFit/>
          </a:bodyPr>
          <a:lstStyle/>
          <a:p>
            <a:pPr algn="l">
              <a:spcBef>
                <a:spcPts val="0"/>
              </a:spcBef>
              <a:spcAft>
                <a:spcPts val="900"/>
              </a:spcAft>
            </a:pPr>
            <a:r>
              <a:rPr sz="1350" b="1">
                <a:solidFill>
                  <a:srgbClr val="0CA30C"/>
                </a:solidFill>
                <a:latin typeface="Segoe UI"/>
              </a:rPr>
              <a:t>They are held-out, not fitted</a:t>
            </a:r>
          </a:p>
          <a:p>
            <a:pPr>
              <a:spcBef>
                <a:spcPts val="0"/>
              </a:spcBef>
              <a:spcAft>
                <a:spcPts val="900"/>
              </a:spcAft>
            </a:pPr>
            <a:r>
              <a:rPr sz="1350" b="0">
                <a:solidFill>
                  <a:srgbClr val="52514E"/>
                </a:solidFill>
                <a:latin typeface="Segoe UI"/>
              </a:rPr>
              <a:t>Evaluated on the chronologically last 20% of the session, never seen during training.</a:t>
            </a:r>
          </a:p>
          <a:p>
            <a:pPr>
              <a:spcBef>
                <a:spcPts val="0"/>
              </a:spcBef>
              <a:spcAft>
                <a:spcPts val="900"/>
              </a:spcAft>
            </a:pPr>
            <a:r>
              <a:rPr sz="1350" b="1">
                <a:solidFill>
                  <a:srgbClr val="D03B3B"/>
                </a:solidFill>
                <a:latin typeface="Segoe UI"/>
              </a:rPr>
              <a:t>They are one session, one person, one room</a:t>
            </a:r>
          </a:p>
          <a:p>
            <a:pPr>
              <a:spcBef>
                <a:spcPts val="0"/>
              </a:spcBef>
              <a:spcAft>
                <a:spcPts val="900"/>
              </a:spcAft>
            </a:pPr>
            <a:r>
              <a:rPr sz="1350" b="0">
                <a:solidFill>
                  <a:srgbClr val="52514E"/>
                </a:solidFill>
                <a:latin typeface="Segoe UI"/>
              </a:rPr>
              <a:t>No claim of generalisation. The paper used 12 scenes and 510,894 frames; this is 823 frames from a single recording. Cross-session and cross-room behaviour is untested.</a:t>
            </a:r>
          </a:p>
          <a:p>
            <a:pPr>
              <a:spcBef>
                <a:spcPts val="0"/>
              </a:spcBef>
              <a:spcAft>
                <a:spcPts val="900"/>
              </a:spcAft>
            </a:pPr>
            <a:r>
              <a:rPr sz="1350" b="1">
                <a:solidFill>
                  <a:srgbClr val="D03B3B"/>
                </a:solidFill>
                <a:latin typeface="Segoe UI"/>
              </a:rPr>
              <a:t>Mask AP@0.80 is exactly 0.000 — before and after</a:t>
            </a:r>
          </a:p>
          <a:p>
            <a:pPr>
              <a:spcBef>
                <a:spcPts val="0"/>
              </a:spcBef>
              <a:spcAft>
                <a:spcPts val="900"/>
              </a:spcAft>
            </a:pPr>
            <a:r>
              <a:rPr sz="1350" b="0">
                <a:solidFill>
                  <a:srgbClr val="52514E"/>
                </a:solidFill>
                <a:latin typeface="Segoe UI"/>
              </a:rPr>
              <a:t>The model never produced a near-pixel-perfect mask on any test frame. 'Improved' is not 'accurate'.</a:t>
            </a:r>
          </a:p>
          <a:p>
            <a:pPr>
              <a:spcBef>
                <a:spcPts val="0"/>
              </a:spcBef>
              <a:spcAft>
                <a:spcPts val="900"/>
              </a:spcAft>
            </a:pPr>
            <a:r>
              <a:rPr sz="1350" b="1">
                <a:solidFill>
                  <a:srgbClr val="898781"/>
                </a:solidFill>
                <a:latin typeface="Segoe UI"/>
              </a:rPr>
              <a:t>Pose uses single-person PCK, not the paper's multi-person OKS mAP</a:t>
            </a:r>
          </a:p>
          <a:p>
            <a:pPr>
              <a:spcBef>
                <a:spcPts val="0"/>
              </a:spcBef>
              <a:spcAft>
                <a:spcPts val="900"/>
              </a:spcAft>
            </a:pPr>
            <a:r>
              <a:rPr sz="1350" b="0">
                <a:solidFill>
                  <a:srgbClr val="52514E"/>
                </a:solidFill>
                <a:latin typeface="Segoe UI"/>
              </a:rPr>
              <a:t>OKS mAP needs associative-embedding decoding to separate individuals, which this codebase never implements — it computes L_group as a training loss but never decodes it back into people.</a:t>
            </a:r>
          </a:p>
          <a:p>
            <a:pPr>
              <a:spcBef>
                <a:spcPts val="0"/>
              </a:spcBef>
              <a:spcAft>
                <a:spcPts val="900"/>
              </a:spcAft>
            </a:pPr>
            <a:r>
              <a:rPr sz="1350" b="1">
                <a:solidFill>
                  <a:srgbClr val="898781"/>
                </a:solidFill>
                <a:latin typeface="Segoe UI"/>
              </a:rPr>
              <a:t>Not comparable to the paper's Table 2</a:t>
            </a:r>
          </a:p>
          <a:p>
            <a:pPr>
              <a:spcBef>
                <a:spcPts val="0"/>
              </a:spcBef>
              <a:spcAft>
                <a:spcPts val="900"/>
              </a:spcAft>
            </a:pPr>
            <a:r>
              <a:rPr sz="1350" b="0">
                <a:solidFill>
                  <a:srgbClr val="52514E"/>
                </a:solidFill>
                <a:latin typeface="Segoe UI"/>
              </a:rPr>
              <a:t>Different sensing hardware, different scale, different metric for pose. These numbers measure our pipeline against itself, not against SiWiS.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a:spAutoFit/>
          </a:bodyPr>
          <a:lstStyle/>
          <a:p>
            <a:pPr algn="l">
              <a:spcBef>
                <a:spcPts val="0"/>
              </a:spcBef>
              <a:spcAft>
                <a:spcPts val="200"/>
              </a:spcAft>
            </a:pPr>
            <a:r>
              <a:rPr sz="3000" b="1">
                <a:solidFill>
                  <a:srgbClr val="0B0B0B"/>
                </a:solidFill>
                <a:latin typeface="Segoe UI"/>
              </a:rPr>
              <a:t>Where this goes next</a:t>
            </a:r>
          </a:p>
          <a:p>
            <a:pPr>
              <a:spcBef>
                <a:spcPts val="0"/>
              </a:spcBef>
              <a:spcAft>
                <a:spcPts val="0"/>
              </a:spcAft>
            </a:pPr>
            <a:r>
              <a:rPr sz="1350" b="0">
                <a:solidFill>
                  <a:srgbClr val="898781"/>
                </a:solidFill>
                <a:latin typeface="Segoe UI"/>
              </a:rPr>
              <a:t>Ordered by expected value per unit of effort</a:t>
            </a:r>
          </a:p>
        </p:txBody>
      </p:sp>
      <p:sp>
        <p:nvSpPr>
          <p:cNvPr id="3" name="Rectangle 2"/>
          <p:cNvSpPr/>
          <p:nvPr/>
        </p:nvSpPr>
        <p:spPr>
          <a:xfrm>
            <a:off x="566928" y="1389888"/>
            <a:ext cx="1106424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874519"/>
          <a:ext cx="11064240" cy="1975104"/>
        </p:xfrm>
        <a:graphic>
          <a:graphicData uri="http://schemas.openxmlformats.org/drawingml/2006/table">
            <a:tbl>
              <a:tblPr firstRow="1" bandRow="1">
                <a:tableStyleId>{5C22544A-7EE6-4342-B048-85BDC9FD1C3A}</a:tableStyleId>
              </a:tblPr>
              <a:tblGrid>
                <a:gridCol w="914400"/>
                <a:gridCol w="5029200"/>
                <a:gridCol w="5120640"/>
              </a:tblGrid>
              <a:tr h="329184">
                <a:tc>
                  <a:txBody>
                    <a:bodyPr/>
                    <a:lstStyle/>
                    <a:p>
                      <a:pPr>
                        <a:spcAft>
                          <a:spcPts val="0"/>
                        </a:spcAft>
                        <a:defRPr sz="1150" b="1">
                          <a:solidFill>
                            <a:srgbClr val="0B0B0B"/>
                          </a:solidFill>
                          <a:latin typeface="Segoe UI"/>
                        </a:defRPr>
                      </a:pPr>
                      <a:r>
                        <a:t>Priority</a:t>
                      </a:r>
                    </a:p>
                  </a:txBody>
                  <a:tcPr marL="82296" marR="82296" marT="27432" marB="27432" anchor="ctr">
                    <a:solidFill>
                      <a:srgbClr val="F0EFEC"/>
                    </a:solidFill>
                  </a:tcPr>
                </a:tc>
                <a:tc>
                  <a:txBody>
                    <a:bodyPr/>
                    <a:lstStyle/>
                    <a:p>
                      <a:pPr>
                        <a:spcAft>
                          <a:spcPts val="0"/>
                        </a:spcAft>
                        <a:defRPr sz="1150" b="1">
                          <a:solidFill>
                            <a:srgbClr val="0B0B0B"/>
                          </a:solidFill>
                          <a:latin typeface="Segoe UI"/>
                        </a:defRPr>
                      </a:pPr>
                      <a:r>
                        <a:t>Action</a:t>
                      </a:r>
                    </a:p>
                  </a:txBody>
                  <a:tcPr marL="82296" marR="82296" marT="27432" marB="27432" anchor="ctr">
                    <a:solidFill>
                      <a:srgbClr val="F0EFEC"/>
                    </a:solidFill>
                  </a:tcPr>
                </a:tc>
                <a:tc>
                  <a:txBody>
                    <a:bodyPr/>
                    <a:lstStyle/>
                    <a:p>
                      <a:pPr>
                        <a:spcAft>
                          <a:spcPts val="0"/>
                        </a:spcAft>
                        <a:defRPr sz="1150" b="1">
                          <a:solidFill>
                            <a:srgbClr val="0B0B0B"/>
                          </a:solidFill>
                          <a:latin typeface="Segoe UI"/>
                        </a:defRPr>
                      </a:pPr>
                      <a:r>
                        <a:t>Rationale</a:t>
                      </a:r>
                    </a:p>
                  </a:txBody>
                  <a:tcPr marL="82296" marR="82296" marT="27432" marB="27432" anchor="ctr">
                    <a:solidFill>
                      <a:srgbClr val="F0EFEC"/>
                    </a:solidFill>
                  </a:tcPr>
                </a:tc>
              </a:tr>
              <a:tr h="329184">
                <a:tc>
                  <a:txBody>
                    <a:bodyPr/>
                    <a:lstStyle/>
                    <a:p>
                      <a:pPr>
                        <a:spcAft>
                          <a:spcPts val="0"/>
                        </a:spcAft>
                        <a:defRPr sz="1150" b="0">
                          <a:solidFill>
                            <a:srgbClr val="52514E"/>
                          </a:solidFill>
                          <a:latin typeface="Segoe UI"/>
                        </a:defRPr>
                      </a:pPr>
                      <a:r>
                        <a:t>1</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Collect more sessions — vary person, clothing,</a:t>
                      </a:r>
                    </a:p>
                    <a:p>
                      <a:pPr>
                        <a:spcAft>
                          <a:spcPts val="0"/>
                        </a:spcAft>
                        <a:defRPr sz="1150" b="0">
                          <a:solidFill>
                            <a:srgbClr val="52514E"/>
                          </a:solidFill>
                          <a:latin typeface="Segoe UI"/>
                        </a:defRPr>
                      </a:pPr>
                      <a:r>
                        <a:t>room, distance, approach angle</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823 frames from one session is the binding constraint,</a:t>
                      </a:r>
                    </a:p>
                    <a:p>
                      <a:pPr>
                        <a:spcAft>
                          <a:spcPts val="0"/>
                        </a:spcAft>
                        <a:defRPr sz="1150" b="0">
                          <a:solidFill>
                            <a:srgbClr val="52514E"/>
                          </a:solidFill>
                          <a:latin typeface="Segoe UI"/>
                        </a:defRPr>
                      </a:pPr>
                      <a:r>
                        <a:t>not model capacity</a:t>
                      </a:r>
                    </a:p>
                  </a:txBody>
                  <a:tcPr marL="82296" marR="82296" marT="27432" marB="27432" anchor="ctr">
                    <a:solidFill>
                      <a:srgbClr val="FCFCFB"/>
                    </a:solidFill>
                  </a:tcPr>
                </a:tc>
              </a:tr>
              <a:tr h="329184">
                <a:tc>
                  <a:txBody>
                    <a:bodyPr/>
                    <a:lstStyle/>
                    <a:p>
                      <a:pPr>
                        <a:spcAft>
                          <a:spcPts val="0"/>
                        </a:spcAft>
                        <a:defRPr sz="1150" b="0">
                          <a:solidFill>
                            <a:srgbClr val="52514E"/>
                          </a:solidFill>
                          <a:latin typeface="Segoe UI"/>
                        </a:defRPr>
                      </a:pPr>
                      <a:r>
                        <a:t>2</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Evaluate across sessions, not just within one</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The sibling project measured a large drop from</a:t>
                      </a:r>
                    </a:p>
                    <a:p>
                      <a:pPr>
                        <a:spcAft>
                          <a:spcPts val="0"/>
                        </a:spcAft>
                        <a:defRPr sz="1150" b="0">
                          <a:solidFill>
                            <a:srgbClr val="52514E"/>
                          </a:solidFill>
                          <a:latin typeface="Segoe UI"/>
                        </a:defRPr>
                      </a:pPr>
                      <a:r>
                        <a:t>within-session to leave-one-session-out</a:t>
                      </a:r>
                    </a:p>
                  </a:txBody>
                  <a:tcPr marL="82296" marR="82296" marT="27432" marB="27432" anchor="ctr">
                    <a:solidFill>
                      <a:srgbClr val="FCFCFB"/>
                    </a:solidFill>
                  </a:tcPr>
                </a:tc>
              </a:tr>
              <a:tr h="329184">
                <a:tc>
                  <a:txBody>
                    <a:bodyPr/>
                    <a:lstStyle/>
                    <a:p>
                      <a:pPr>
                        <a:spcAft>
                          <a:spcPts val="0"/>
                        </a:spcAft>
                        <a:defRPr sz="1150" b="0">
                          <a:solidFill>
                            <a:srgbClr val="52514E"/>
                          </a:solidFill>
                          <a:latin typeface="Segoe UI"/>
                        </a:defRPr>
                      </a:pPr>
                      <a:r>
                        <a:t>3</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Longer / scheduled training, mask-branch capacity</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Loss plateaued but mask precision is clearly the</a:t>
                      </a:r>
                    </a:p>
                    <a:p>
                      <a:pPr>
                        <a:spcAft>
                          <a:spcPts val="0"/>
                        </a:spcAft>
                        <a:defRPr sz="1150" b="0">
                          <a:solidFill>
                            <a:srgbClr val="52514E"/>
                          </a:solidFill>
                          <a:latin typeface="Segoe UI"/>
                        </a:defRPr>
                      </a:pPr>
                      <a:r>
                        <a:t>weaker of the two heads</a:t>
                      </a:r>
                    </a:p>
                  </a:txBody>
                  <a:tcPr marL="82296" marR="82296" marT="27432" marB="27432" anchor="ctr">
                    <a:solidFill>
                      <a:srgbClr val="FCFCFB"/>
                    </a:solidFill>
                  </a:tcPr>
                </a:tc>
              </a:tr>
              <a:tr h="329184">
                <a:tc>
                  <a:txBody>
                    <a:bodyPr/>
                    <a:lstStyle/>
                    <a:p>
                      <a:pPr>
                        <a:spcAft>
                          <a:spcPts val="0"/>
                        </a:spcAft>
                        <a:defRPr sz="1150" b="0">
                          <a:solidFill>
                            <a:srgbClr val="52514E"/>
                          </a:solidFill>
                          <a:latin typeface="Segoe UI"/>
                        </a:defRPr>
                      </a:pPr>
                      <a:r>
                        <a:t>4</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Preserve per-subcarrier structure (e.g. PCA)</a:t>
                      </a:r>
                    </a:p>
                    <a:p>
                      <a:pPr>
                        <a:spcAft>
                          <a:spcPts val="0"/>
                        </a:spcAft>
                        <a:defRPr sz="1150" b="0">
                          <a:solidFill>
                            <a:srgbClr val="52514E"/>
                          </a:solidFill>
                          <a:latin typeface="Segoe UI"/>
                        </a:defRPr>
                      </a:pPr>
                      <a:r>
                        <a:t>instead of one scalar per packet</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The current front end discards frequency-selective</a:t>
                      </a:r>
                    </a:p>
                    <a:p>
                      <a:pPr>
                        <a:spcAft>
                          <a:spcPts val="0"/>
                        </a:spcAft>
                        <a:defRPr sz="1150" b="0">
                          <a:solidFill>
                            <a:srgbClr val="52514E"/>
                          </a:solidFill>
                          <a:latin typeface="Segoe UI"/>
                        </a:defRPr>
                      </a:pPr>
                      <a:r>
                        <a:t>information that may carry pose detail</a:t>
                      </a:r>
                    </a:p>
                  </a:txBody>
                  <a:tcPr marL="82296" marR="82296" marT="27432" marB="27432" anchor="ctr">
                    <a:solidFill>
                      <a:srgbClr val="FCFCFB"/>
                    </a:solidFill>
                  </a:tcPr>
                </a:tc>
              </a:tr>
              <a:tr h="329184">
                <a:tc>
                  <a:txBody>
                    <a:bodyPr/>
                    <a:lstStyle/>
                    <a:p>
                      <a:pPr>
                        <a:spcAft>
                          <a:spcPts val="0"/>
                        </a:spcAft>
                        <a:defRPr sz="1150" b="0">
                          <a:solidFill>
                            <a:srgbClr val="52514E"/>
                          </a:solidFill>
                          <a:latin typeface="Segoe UI"/>
                        </a:defRPr>
                      </a:pPr>
                      <a:r>
                        <a:t>5</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Implement associative-embedding decoding</a:t>
                      </a:r>
                    </a:p>
                  </a:txBody>
                  <a:tcPr marL="82296" marR="82296" marT="27432" marB="27432" anchor="ctr">
                    <a:solidFill>
                      <a:srgbClr val="FCFCFB"/>
                    </a:solidFill>
                  </a:tcPr>
                </a:tc>
                <a:tc>
                  <a:txBody>
                    <a:bodyPr/>
                    <a:lstStyle/>
                    <a:p>
                      <a:pPr>
                        <a:spcAft>
                          <a:spcPts val="0"/>
                        </a:spcAft>
                        <a:defRPr sz="1150" b="0">
                          <a:solidFill>
                            <a:srgbClr val="52514E"/>
                          </a:solidFill>
                          <a:latin typeface="Segoe UI"/>
                        </a:defRPr>
                      </a:pPr>
                      <a:r>
                        <a:t>Required for genuine multi-person support and</a:t>
                      </a:r>
                    </a:p>
                    <a:p>
                      <a:pPr>
                        <a:spcAft>
                          <a:spcPts val="0"/>
                        </a:spcAft>
                        <a:defRPr sz="1150" b="0">
                          <a:solidFill>
                            <a:srgbClr val="52514E"/>
                          </a:solidFill>
                          <a:latin typeface="Segoe UI"/>
                        </a:defRPr>
                      </a:pPr>
                      <a:r>
                        <a:t>the paper's OKS mAP metric</a:t>
                      </a:r>
                    </a:p>
                  </a:txBody>
                  <a:tcPr marL="82296" marR="82296" marT="27432" marB="27432" anchor="ctr">
                    <a:solidFill>
                      <a:srgbClr val="FCFCFB"/>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a:spAutoFit/>
          </a:bodyPr>
          <a:lstStyle/>
          <a:p>
            <a:pPr algn="l">
              <a:spcBef>
                <a:spcPts val="0"/>
              </a:spcBef>
              <a:spcAft>
                <a:spcPts val="200"/>
              </a:spcAft>
            </a:pPr>
            <a:r>
              <a:rPr sz="3000" b="1">
                <a:solidFill>
                  <a:srgbClr val="0B0B0B"/>
                </a:solidFill>
                <a:latin typeface="Segoe UI"/>
              </a:rPr>
              <a:t>What was built</a:t>
            </a:r>
          </a:p>
          <a:p>
            <a:pPr>
              <a:spcBef>
                <a:spcPts val="0"/>
              </a:spcBef>
              <a:spcAft>
                <a:spcPts val="0"/>
              </a:spcAft>
            </a:pPr>
            <a:r>
              <a:rPr sz="1350" b="0">
                <a:solidFill>
                  <a:srgbClr val="898781"/>
                </a:solidFill>
                <a:latin typeface="Segoe UI"/>
              </a:rPr>
              <a:t>New and substantially rewritten components</a:t>
            </a:r>
          </a:p>
        </p:txBody>
      </p:sp>
      <p:sp>
        <p:nvSpPr>
          <p:cNvPr id="3" name="Rectangle 2"/>
          <p:cNvSpPr/>
          <p:nvPr/>
        </p:nvSpPr>
        <p:spPr>
          <a:xfrm>
            <a:off x="566928" y="1389888"/>
            <a:ext cx="1106424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0"/>
            <a:ext cx="5394960" cy="4389120"/>
          </a:xfrm>
          <a:prstGeom prst="rect">
            <a:avLst/>
          </a:prstGeom>
          <a:noFill/>
        </p:spPr>
        <p:txBody>
          <a:bodyPr wrap="square">
            <a:spAutoFit/>
          </a:bodyPr>
          <a:lstStyle/>
          <a:p>
            <a:pPr algn="l">
              <a:spcBef>
                <a:spcPts val="0"/>
              </a:spcBef>
              <a:spcAft>
                <a:spcPts val="1000"/>
              </a:spcAft>
            </a:pPr>
            <a:r>
              <a:rPr sz="1300" b="1">
                <a:solidFill>
                  <a:srgbClr val="0B0B0B"/>
                </a:solidFill>
                <a:latin typeface="Segoe UI"/>
              </a:rPr>
              <a:t>Rewritten</a:t>
            </a:r>
          </a:p>
          <a:p>
            <a:pPr>
              <a:spcBef>
                <a:spcPts val="0"/>
              </a:spcBef>
              <a:spcAft>
                <a:spcPts val="1000"/>
              </a:spcAft>
            </a:pPr>
            <a:r>
              <a:rPr sz="1300" b="0">
                <a:solidFill>
                  <a:srgbClr val="52514E"/>
                </a:solidFill>
                <a:latin typeface="Segoe UI"/>
              </a:rPr>
              <a:t>data/csi_pcap_loader.py — csiread parsing, MAC filter, TX-chain split, guard-subcarrier removal, amplitude extraction, resampling</a:t>
            </a:r>
          </a:p>
          <a:p>
            <a:pPr>
              <a:spcBef>
                <a:spcPts val="0"/>
              </a:spcBef>
              <a:spcAft>
                <a:spcPts val="1000"/>
              </a:spcAft>
            </a:pPr>
            <a:r>
              <a:rPr sz="1300" b="0">
                <a:solidFill>
                  <a:srgbClr val="52514E"/>
                </a:solidFill>
                <a:latin typeface="Segoe UI"/>
              </a:rPr>
              <a:t>config.py — stream count, amplitude channels, derived window length</a:t>
            </a:r>
          </a:p>
          <a:p>
            <a:pPr>
              <a:spcBef>
                <a:spcPts val="0"/>
              </a:spcBef>
              <a:spcAft>
                <a:spcPts val="1000"/>
              </a:spcAft>
            </a:pPr>
            <a:r>
              <a:rPr sz="1300" b="0">
                <a:solidFill>
                  <a:srgbClr val="52514E"/>
                </a:solidFill>
                <a:latin typeface="Segoe UI"/>
              </a:rPr>
              <a:t>data/dataset.py, train.py, infer.py, check_sync.py — real-valued signal path and new CLI</a:t>
            </a:r>
          </a:p>
        </p:txBody>
      </p:sp>
      <p:sp>
        <p:nvSpPr>
          <p:cNvPr id="5" name="TextBox 4"/>
          <p:cNvSpPr txBox="1"/>
          <p:nvPr/>
        </p:nvSpPr>
        <p:spPr>
          <a:xfrm>
            <a:off x="6309360" y="1828800"/>
            <a:ext cx="5303520" cy="4389120"/>
          </a:xfrm>
          <a:prstGeom prst="rect">
            <a:avLst/>
          </a:prstGeom>
          <a:noFill/>
        </p:spPr>
        <p:txBody>
          <a:bodyPr wrap="square">
            <a:spAutoFit/>
          </a:bodyPr>
          <a:lstStyle/>
          <a:p>
            <a:pPr algn="l">
              <a:spcBef>
                <a:spcPts val="0"/>
              </a:spcBef>
              <a:spcAft>
                <a:spcPts val="1000"/>
              </a:spcAft>
            </a:pPr>
            <a:r>
              <a:rPr sz="1300" b="1">
                <a:solidFill>
                  <a:srgbClr val="0B0B0B"/>
                </a:solidFill>
                <a:latin typeface="Segoe UI"/>
              </a:rPr>
              <a:t>New</a:t>
            </a:r>
          </a:p>
          <a:p>
            <a:pPr>
              <a:spcBef>
                <a:spcPts val="0"/>
              </a:spcBef>
              <a:spcAft>
                <a:spcPts val="1000"/>
              </a:spcAft>
            </a:pPr>
            <a:r>
              <a:rPr sz="1300" b="0">
                <a:solidFill>
                  <a:srgbClr val="52514E"/>
                </a:solidFill>
                <a:latin typeface="Segoe UI"/>
              </a:rPr>
              <a:t>capture/extract_frames_from_video.py — timestamped frame extraction from recorded video</a:t>
            </a:r>
          </a:p>
          <a:p>
            <a:pPr>
              <a:spcBef>
                <a:spcPts val="0"/>
              </a:spcBef>
              <a:spcAft>
                <a:spcPts val="1000"/>
              </a:spcAft>
            </a:pPr>
            <a:r>
              <a:rPr sz="1300" b="0">
                <a:solidFill>
                  <a:srgbClr val="52514E"/>
                </a:solidFill>
                <a:latin typeface="Segoe UI"/>
              </a:rPr>
              <a:t>evaluate.py — mask mAP (Eqn. 15) and single-person PCK (Eqn. 17) on the held-out split</a:t>
            </a:r>
          </a:p>
          <a:p>
            <a:pPr>
              <a:spcBef>
                <a:spcPts val="0"/>
              </a:spcBef>
              <a:spcAft>
                <a:spcPts val="1000"/>
              </a:spcAft>
            </a:pPr>
            <a:r>
              <a:rPr sz="1300" b="0">
                <a:solidFill>
                  <a:srgbClr val="52514E"/>
                </a:solidFill>
                <a:latin typeface="Segoe UI"/>
              </a:rPr>
              <a:t>visualize_predictions.py — mask/pose grids, skeleton overlays, per-joint channel maps</a:t>
            </a:r>
          </a:p>
          <a:p>
            <a:pPr>
              <a:spcBef>
                <a:spcPts val="0"/>
              </a:spcBef>
              <a:spcAft>
                <a:spcPts val="1000"/>
              </a:spcAft>
            </a:pPr>
            <a:r>
              <a:rPr sz="1300" b="0">
                <a:solidFill>
                  <a:srgbClr val="52514E"/>
                </a:solidFill>
                <a:latin typeface="Segoe UI"/>
              </a:rPr>
              <a:t>make_deck.py — regenerates this deck</a:t>
            </a:r>
          </a:p>
        </p:txBody>
      </p:sp>
      <p:sp>
        <p:nvSpPr>
          <p:cNvPr id="6" name="TextBox 5"/>
          <p:cNvSpPr txBox="1"/>
          <p:nvPr/>
        </p:nvSpPr>
        <p:spPr>
          <a:xfrm>
            <a:off x="566928" y="5623560"/>
            <a:ext cx="11064240" cy="822960"/>
          </a:xfrm>
          <a:prstGeom prst="rect">
            <a:avLst/>
          </a:prstGeom>
          <a:noFill/>
        </p:spPr>
        <p:txBody>
          <a:bodyPr wrap="square">
            <a:spAutoFit/>
          </a:bodyPr>
          <a:lstStyle/>
          <a:p>
            <a:pPr algn="l">
              <a:spcBef>
                <a:spcPts val="0"/>
              </a:spcBef>
              <a:spcAft>
                <a:spcPts val="600"/>
              </a:spcAft>
            </a:pPr>
            <a:r>
              <a:rPr sz="1250" b="0">
                <a:solidFill>
                  <a:srgbClr val="898781"/>
                </a:solidFill>
                <a:latin typeface="Segoe UI"/>
              </a:rPr>
              <a:t>Fixed defects: mask label double-scaling · chronological frame ordering · associative-embedding push-loss normalisation · CSI byte order · zero-variance feature collapse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a:spAutoFit/>
          </a:bodyPr>
          <a:lstStyle/>
          <a:p>
            <a:pPr algn="l">
              <a:spcBef>
                <a:spcPts val="0"/>
              </a:spcBef>
              <a:spcAft>
                <a:spcPts val="200"/>
              </a:spcAft>
            </a:pPr>
            <a:r>
              <a:rPr sz="3000" b="1">
                <a:solidFill>
                  <a:srgbClr val="0B0B0B"/>
                </a:solidFill>
                <a:latin typeface="Segoe UI"/>
              </a:rPr>
              <a:t>Summary</a:t>
            </a:r>
          </a:p>
        </p:txBody>
      </p:sp>
      <p:sp>
        <p:nvSpPr>
          <p:cNvPr id="3" name="Rectangle 2"/>
          <p:cNvSpPr/>
          <p:nvPr/>
        </p:nvSpPr>
        <p:spPr>
          <a:xfrm>
            <a:off x="566928" y="1389888"/>
            <a:ext cx="1106424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783080"/>
            <a:ext cx="11064240" cy="4572000"/>
          </a:xfrm>
          <a:prstGeom prst="rect">
            <a:avLst/>
          </a:prstGeom>
          <a:noFill/>
        </p:spPr>
        <p:txBody>
          <a:bodyPr wrap="square">
            <a:spAutoFit/>
          </a:bodyPr>
          <a:lstStyle/>
          <a:p>
            <a:pPr algn="l">
              <a:spcBef>
                <a:spcPts val="0"/>
              </a:spcBef>
              <a:spcAft>
                <a:spcPts val="1200"/>
              </a:spcAft>
            </a:pPr>
            <a:r>
              <a:rPr sz="1450" b="1">
                <a:solidFill>
                  <a:srgbClr val="0B0B0B"/>
                </a:solidFill>
                <a:latin typeface="Segoe UI"/>
              </a:rPr>
              <a:t>The pipeline works end to end.</a:t>
            </a:r>
          </a:p>
          <a:p>
            <a:pPr>
              <a:spcBef>
                <a:spcPts val="0"/>
              </a:spcBef>
              <a:spcAft>
                <a:spcPts val="1200"/>
              </a:spcAft>
            </a:pPr>
            <a:r>
              <a:rPr sz="1450" b="0">
                <a:solidFill>
                  <a:srgbClr val="52514E"/>
                </a:solidFill>
                <a:latin typeface="Segoe UI"/>
              </a:rPr>
              <a:t>WiFi CSI from a commodity Raspberry Pi goes in; a human body mask and a 17-joint skeleton come out. Every stage was validated on real captured data, not assumed.</a:t>
            </a:r>
          </a:p>
          <a:p>
            <a:pPr>
              <a:spcBef>
                <a:spcPts val="0"/>
              </a:spcBef>
              <a:spcAft>
                <a:spcPts val="1200"/>
              </a:spcAft>
            </a:pPr>
            <a:r>
              <a:rPr sz="1450" b="1">
                <a:solidFill>
                  <a:srgbClr val="0B0B0B"/>
                </a:solidFill>
                <a:latin typeface="Segoe UI"/>
              </a:rPr>
              <a:t>Five real defects were found and fixed</a:t>
            </a:r>
          </a:p>
          <a:p>
            <a:pPr>
              <a:spcBef>
                <a:spcPts val="0"/>
              </a:spcBef>
              <a:spcAft>
                <a:spcPts val="1200"/>
              </a:spcAft>
            </a:pPr>
            <a:r>
              <a:rPr sz="1450" b="0">
                <a:solidFill>
                  <a:srgbClr val="52514E"/>
                </a:solidFill>
                <a:latin typeface="Segoe UI"/>
              </a:rPr>
              <a:t>— three by reading the paper against the code, one by checking the firmware's own reference parser, and one that only appeared when the code was actually run on real data.</a:t>
            </a:r>
          </a:p>
          <a:p>
            <a:pPr>
              <a:spcBef>
                <a:spcPts val="0"/>
              </a:spcBef>
              <a:spcAft>
                <a:spcPts val="1200"/>
              </a:spcAft>
            </a:pPr>
            <a:r>
              <a:rPr sz="1450" b="1">
                <a:solidFill>
                  <a:srgbClr val="0B0B0B"/>
                </a:solidFill>
                <a:latin typeface="Segoe UI"/>
              </a:rPr>
              <a:t>The model demonstrably learns from the signal</a:t>
            </a:r>
          </a:p>
          <a:p>
            <a:pPr>
              <a:spcBef>
                <a:spcPts val="0"/>
              </a:spcBef>
              <a:spcAft>
                <a:spcPts val="1200"/>
              </a:spcAft>
            </a:pPr>
            <a:r>
              <a:rPr sz="1450" b="0">
                <a:solidFill>
                  <a:srgbClr val="52514E"/>
                </a:solidFill>
                <a:latin typeface="Segoe UI"/>
              </a:rPr>
              <a:t>Predictions moved from a fixed average pose to input-conditioned masks and skeletons, confirmed both visually and by held-out metrics (mask mAP +75%, tight-threshold PCK +41%).</a:t>
            </a:r>
          </a:p>
          <a:p>
            <a:pPr>
              <a:spcBef>
                <a:spcPts val="0"/>
              </a:spcBef>
              <a:spcAft>
                <a:spcPts val="1200"/>
              </a:spcAft>
            </a:pPr>
            <a:r>
              <a:rPr sz="1450" b="1">
                <a:solidFill>
                  <a:srgbClr val="0B0B0B"/>
                </a:solidFill>
                <a:latin typeface="Segoe UI"/>
              </a:rPr>
              <a:t>The limits are known and stated</a:t>
            </a:r>
          </a:p>
          <a:p>
            <a:pPr>
              <a:spcBef>
                <a:spcPts val="0"/>
              </a:spcBef>
              <a:spcAft>
                <a:spcPts val="1200"/>
              </a:spcAft>
            </a:pPr>
            <a:r>
              <a:rPr sz="1450" b="0">
                <a:solidFill>
                  <a:srgbClr val="52514E"/>
                </a:solidFill>
                <a:latin typeface="Segoe UI"/>
              </a:rPr>
              <a:t>One session, one person, no phase coherence, no cross-room evidence, and no near-perfect masks. More data is the next binding constraint — not architecture.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